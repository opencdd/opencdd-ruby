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2" r:id="rId4"/>
    <p:sldId id="259" r:id="rId5"/>
    <p:sldId id="263" r:id="rId6"/>
    <p:sldId id="261" r:id="rId7"/>
    <p:sldId id="258" r:id="rId8"/>
    <p:sldId id="260" r:id="rId9"/>
    <p:sldId id="275" r:id="rId10"/>
    <p:sldId id="264" r:id="rId11"/>
    <p:sldId id="265" r:id="rId12"/>
    <p:sldId id="266" r:id="rId13"/>
    <p:sldId id="267" r:id="rId14"/>
    <p:sldId id="270" r:id="rId15"/>
    <p:sldId id="272" r:id="rId16"/>
    <p:sldId id="268" r:id="rId17"/>
    <p:sldId id="277" r:id="rId18"/>
    <p:sldId id="278" r:id="rId19"/>
    <p:sldId id="276" r:id="rId20"/>
    <p:sldId id="269" r:id="rId21"/>
    <p:sldId id="274" r:id="rId22"/>
    <p:sldId id="279" r:id="rId2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A4633017-486E-4886-8A12-47008A5AB21C}">
          <p14:sldIdLst>
            <p14:sldId id="256"/>
            <p14:sldId id="257"/>
            <p14:sldId id="262"/>
            <p14:sldId id="259"/>
            <p14:sldId id="263"/>
            <p14:sldId id="261"/>
            <p14:sldId id="258"/>
            <p14:sldId id="260"/>
          </p14:sldIdLst>
        </p14:section>
        <p14:section name="Tutorial" id="{BAF71766-D9C6-4202-A3F5-7E6D4F32C030}">
          <p14:sldIdLst>
            <p14:sldId id="275"/>
            <p14:sldId id="264"/>
            <p14:sldId id="265"/>
            <p14:sldId id="266"/>
            <p14:sldId id="267"/>
            <p14:sldId id="270"/>
            <p14:sldId id="272"/>
            <p14:sldId id="268"/>
            <p14:sldId id="277"/>
            <p14:sldId id="278"/>
            <p14:sldId id="276"/>
            <p14:sldId id="269"/>
            <p14:sldId id="274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C4125-319C-4EB9-A346-69FC0A5C5DC9}" type="datetimeFigureOut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643AAF-E961-4025-BB0C-E2CCE9ADC5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184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43AAF-E961-4025-BB0C-E2CCE9ADC5DC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390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43AAF-E961-4025-BB0C-E2CCE9ADC5DC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940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6F3CC-CCB0-4C92-B2BA-EDE908481347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02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9E8F4-B8C6-46F6-9337-AF07B8AB1502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15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4B289-E853-41D5-AA81-0BB7B6675507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49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0A6E2-0170-4B14-8CCC-FDA3CE428452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456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7A45-9169-4ADA-B89E-A48155A33892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789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D3B37-B92E-40FD-90E3-D003E147C1F1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78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26C86-C5D4-4463-9D07-682AE7614A5A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312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270-BBF7-4CEC-BE7A-7BCC4B2480BD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48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42333-B333-42C7-9FE4-780EEFDD3391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03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43AB5-F4D8-447B-A2CA-EC201C7B36F6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64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57124-5857-44B0-8389-B140A2474561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22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C593E-C5F6-4072-8824-C49799B2F3D1}" type="datetime1">
              <a:rPr kumimoji="1" lang="ja-JP" altLang="en-US" smtClean="0"/>
              <a:t>2019/3/7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FB27-D538-4D58-BD7D-E950FE6577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09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000" dirty="0" smtClean="0"/>
              <a:t>Introduction of </a:t>
            </a:r>
            <a:r>
              <a:rPr kumimoji="1" lang="en-US" altLang="ja-JP" sz="4000" dirty="0" err="1" smtClean="0"/>
              <a:t>ParcelMaker</a:t>
            </a:r>
            <a:r>
              <a:rPr kumimoji="1" lang="en-US" altLang="ja-JP" sz="4000" baseline="30000" dirty="0" err="1" smtClean="0"/>
              <a:t>TM</a:t>
            </a:r>
            <a:endParaRPr kumimoji="1" lang="ja-JP" altLang="en-US" sz="4000" baseline="300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 smtClean="0"/>
              <a:t>Akira HOSOKAWA</a:t>
            </a:r>
          </a:p>
          <a:p>
            <a:r>
              <a:rPr lang="en-US" altLang="ja-JP" dirty="0" smtClean="0"/>
              <a:t>IEC/SC 3D/WG </a:t>
            </a:r>
            <a:r>
              <a:rPr lang="en-US" altLang="ja-JP" smtClean="0"/>
              <a:t>3 expert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219364" y="0"/>
            <a:ext cx="826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err="1" smtClean="0"/>
              <a:t>ver</a:t>
            </a:r>
            <a:r>
              <a:rPr lang="en-US" altLang="ja-JP" smtClean="0"/>
              <a:t> 1.0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674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What is </a:t>
            </a:r>
            <a:r>
              <a:rPr kumimoji="1" lang="en-US" altLang="ja-JP" dirty="0" err="1" smtClean="0"/>
              <a:t>ParcelMaker</a:t>
            </a:r>
            <a:r>
              <a:rPr kumimoji="1" lang="en-US" altLang="ja-JP" baseline="30000" dirty="0" err="1" smtClean="0"/>
              <a:t>TM</a:t>
            </a:r>
            <a:r>
              <a:rPr kumimoji="1" lang="en-US" altLang="ja-JP" dirty="0" smtClean="0"/>
              <a:t>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ja-JP" dirty="0" err="1" smtClean="0"/>
              <a:t>ParcelMaker</a:t>
            </a:r>
            <a:r>
              <a:rPr kumimoji="1" lang="en-US" altLang="ja-JP" baseline="30000" dirty="0" err="1" smtClean="0"/>
              <a:t>TM</a:t>
            </a:r>
            <a:r>
              <a:rPr kumimoji="1" lang="en-US" altLang="ja-JP" dirty="0" smtClean="0"/>
              <a:t> is a </a:t>
            </a:r>
            <a:r>
              <a:rPr kumimoji="1" lang="en-US" altLang="ja-JP" b="1" dirty="0" smtClean="0"/>
              <a:t>reference implementation of IEC 62656-1</a:t>
            </a:r>
            <a:r>
              <a:rPr kumimoji="1" lang="en-US" altLang="ja-JP" dirty="0" smtClean="0"/>
              <a:t>, for helping users to view, develop, and validate data dictionaries in the form of spreadsheets compliant to IEC 62656-1 on Microsoft® Excel®.</a:t>
            </a:r>
          </a:p>
          <a:p>
            <a:r>
              <a:rPr lang="en-US" altLang="ja-JP" dirty="0" err="1" smtClean="0"/>
              <a:t>ParcelMaker</a:t>
            </a:r>
            <a:r>
              <a:rPr lang="en-US" altLang="ja-JP" baseline="30000" dirty="0" err="1" smtClean="0"/>
              <a:t>TM</a:t>
            </a:r>
            <a:r>
              <a:rPr lang="en-US" altLang="ja-JP" dirty="0" smtClean="0"/>
              <a:t> is developed by Toshiba with Visual Basic for Applications (VBA, in short). Your own codes can </a:t>
            </a:r>
            <a:r>
              <a:rPr lang="en-US" altLang="ja-JP" b="1" dirty="0" smtClean="0"/>
              <a:t>coexist</a:t>
            </a:r>
            <a:r>
              <a:rPr lang="en-US" altLang="ja-JP" dirty="0" smtClean="0"/>
              <a:t> with </a:t>
            </a:r>
            <a:r>
              <a:rPr lang="en-US" altLang="ja-JP" dirty="0" err="1" smtClean="0"/>
              <a:t>ParcelMaker</a:t>
            </a:r>
            <a:r>
              <a:rPr lang="en-US" altLang="ja-JP" baseline="30000" dirty="0" err="1" smtClean="0"/>
              <a:t>TM</a:t>
            </a:r>
            <a:r>
              <a:rPr lang="en-US" altLang="ja-JP" dirty="0" smtClean="0"/>
              <a:t>.</a:t>
            </a:r>
          </a:p>
          <a:p>
            <a:r>
              <a:rPr lang="en-US" altLang="ja-JP" dirty="0" smtClean="0"/>
              <a:t>For standardization purpose, </a:t>
            </a:r>
            <a:r>
              <a:rPr lang="en-US" altLang="ja-JP" dirty="0" err="1" smtClean="0"/>
              <a:t>ParcelMaker</a:t>
            </a:r>
            <a:r>
              <a:rPr lang="en-US" altLang="ja-JP" baseline="30000" dirty="0" err="1" smtClean="0"/>
              <a:t>TM</a:t>
            </a:r>
            <a:r>
              <a:rPr lang="en-US" altLang="ja-JP" dirty="0" smtClean="0"/>
              <a:t> is </a:t>
            </a:r>
            <a:r>
              <a:rPr lang="en-US" altLang="ja-JP" b="1" dirty="0" smtClean="0"/>
              <a:t>freely available</a:t>
            </a:r>
            <a:r>
              <a:rPr lang="en-US" altLang="ja-JP" dirty="0" smtClean="0"/>
              <a:t> (a license file for your computer is required).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84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Snapshot</a:t>
            </a:r>
            <a:endParaRPr kumimoji="1" lang="ja-JP" altLang="en-US" dirty="0"/>
          </a:p>
        </p:txBody>
      </p:sp>
      <p:pic>
        <p:nvPicPr>
          <p:cNvPr id="9" name="コンテンツ プレースホルダー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525" y="1886744"/>
            <a:ext cx="6076950" cy="4229100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205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How to use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ja-JP" dirty="0" smtClean="0"/>
              <a:t>Almost all of the functions are available from the following:</a:t>
            </a:r>
          </a:p>
          <a:p>
            <a:pPr marL="914400" lvl="1" indent="-457200">
              <a:buFont typeface="+mj-lt"/>
              <a:buAutoNum type="alphaUcParenR"/>
            </a:pPr>
            <a:r>
              <a:rPr kumimoji="1" lang="en-US" altLang="ja-JP" b="1" i="1" dirty="0" err="1" smtClean="0"/>
              <a:t>ParcelMaker</a:t>
            </a:r>
            <a:r>
              <a:rPr kumimoji="1" lang="en-US" altLang="ja-JP" dirty="0" smtClean="0"/>
              <a:t> menu in the </a:t>
            </a:r>
            <a:r>
              <a:rPr kumimoji="1" lang="en-US" altLang="ja-JP" b="1" dirty="0" err="1" smtClean="0"/>
              <a:t>Addin</a:t>
            </a:r>
            <a:r>
              <a:rPr kumimoji="1" lang="en-US" altLang="ja-JP" dirty="0" smtClean="0"/>
              <a:t> menu of Excel®</a:t>
            </a:r>
          </a:p>
          <a:p>
            <a:pPr lvl="2"/>
            <a:r>
              <a:rPr lang="en-US" altLang="ja-JP" b="1" dirty="0" smtClean="0"/>
              <a:t>Generate worksheets</a:t>
            </a:r>
            <a:r>
              <a:rPr lang="en-US" altLang="ja-JP" dirty="0" smtClean="0"/>
              <a:t> on the active workbook for developing a data dictionary from scratch</a:t>
            </a:r>
          </a:p>
          <a:p>
            <a:pPr lvl="2"/>
            <a:r>
              <a:rPr kumimoji="1" lang="en-US" altLang="ja-JP" b="1" dirty="0" smtClean="0"/>
              <a:t>Import/export</a:t>
            </a:r>
            <a:r>
              <a:rPr kumimoji="1" lang="en-US" altLang="ja-JP" dirty="0" smtClean="0"/>
              <a:t> worksheets from/to files in the form of CSV or Excel®, which contains data </a:t>
            </a:r>
            <a:r>
              <a:rPr lang="en-US" altLang="ja-JP" dirty="0" smtClean="0"/>
              <a:t>conformant to IEC 62656-1 </a:t>
            </a:r>
            <a:r>
              <a:rPr lang="en-US" altLang="ja-JP" dirty="0"/>
              <a:t>to/from the </a:t>
            </a:r>
            <a:r>
              <a:rPr lang="en-US" altLang="ja-JP" dirty="0" smtClean="0"/>
              <a:t>active workbook</a:t>
            </a:r>
          </a:p>
          <a:p>
            <a:pPr lvl="2"/>
            <a:r>
              <a:rPr kumimoji="1" lang="en-US" altLang="ja-JP" b="1" dirty="0" smtClean="0"/>
              <a:t>Validate</a:t>
            </a:r>
            <a:r>
              <a:rPr kumimoji="1" lang="en-US" altLang="ja-JP" dirty="0" smtClean="0"/>
              <a:t> a data dictionary on the active workbook</a:t>
            </a:r>
          </a:p>
          <a:p>
            <a:pPr marL="914400" lvl="1" indent="-457200">
              <a:buFont typeface="+mj-lt"/>
              <a:buAutoNum type="alphaUcParenR"/>
            </a:pPr>
            <a:r>
              <a:rPr lang="en-US" altLang="ja-JP" b="1" dirty="0" smtClean="0"/>
              <a:t>Context menu</a:t>
            </a:r>
            <a:r>
              <a:rPr lang="en-US" altLang="ja-JP" dirty="0" smtClean="0"/>
              <a:t> in a worksheet</a:t>
            </a:r>
          </a:p>
          <a:p>
            <a:pPr lvl="2"/>
            <a:r>
              <a:rPr lang="en-US" altLang="ja-JP" b="1" dirty="0" smtClean="0"/>
              <a:t>Show a class structure</a:t>
            </a:r>
            <a:r>
              <a:rPr lang="en-US" altLang="ja-JP" dirty="0" smtClean="0"/>
              <a:t> (available from a </a:t>
            </a:r>
            <a:r>
              <a:rPr lang="en-US" altLang="ja-JP" b="1" dirty="0" smtClean="0"/>
              <a:t>CLASS</a:t>
            </a:r>
            <a:r>
              <a:rPr lang="en-US" altLang="ja-JP" dirty="0" smtClean="0"/>
              <a:t> sheet)</a:t>
            </a:r>
          </a:p>
          <a:p>
            <a:pPr lvl="2"/>
            <a:r>
              <a:rPr lang="en-US" altLang="ja-JP" b="1" dirty="0" smtClean="0"/>
              <a:t>Rename</a:t>
            </a:r>
            <a:r>
              <a:rPr lang="en-US" altLang="ja-JP" dirty="0" smtClean="0"/>
              <a:t> the identifier of a concept to another</a:t>
            </a:r>
            <a:r>
              <a:rPr lang="ja-JP" altLang="en-US" dirty="0" smtClean="0"/>
              <a:t> </a:t>
            </a:r>
            <a:r>
              <a:rPr lang="en-US" altLang="ja-JP" dirty="0" smtClean="0"/>
              <a:t>(available from the </a:t>
            </a:r>
            <a:r>
              <a:rPr lang="en-US" altLang="ja-JP" b="1" i="1" dirty="0" smtClean="0"/>
              <a:t>Code</a:t>
            </a:r>
            <a:r>
              <a:rPr lang="en-US" altLang="ja-JP" dirty="0" smtClean="0"/>
              <a:t> column (identified with </a:t>
            </a:r>
            <a:r>
              <a:rPr lang="en-US" altLang="ja-JP" b="1" i="1" dirty="0" smtClean="0"/>
              <a:t>MDC_P001_n</a:t>
            </a:r>
            <a:r>
              <a:rPr lang="en-US" altLang="ja-JP" dirty="0" smtClean="0"/>
              <a:t>) on each sheet)</a:t>
            </a:r>
          </a:p>
          <a:p>
            <a:pPr marL="914400" lvl="1" indent="-457200">
              <a:buFont typeface="+mj-lt"/>
              <a:buAutoNum type="alphaUcParenR"/>
            </a:pPr>
            <a:r>
              <a:rPr kumimoji="1" lang="en-US" altLang="ja-JP" b="1" dirty="0" smtClean="0"/>
              <a:t>Double clicking</a:t>
            </a:r>
            <a:r>
              <a:rPr kumimoji="1" lang="en-US" altLang="ja-JP" dirty="0" smtClean="0"/>
              <a:t> a cell in the data section of a worksheet</a:t>
            </a:r>
          </a:p>
          <a:p>
            <a:pPr lvl="2"/>
            <a:r>
              <a:rPr lang="en-US" altLang="ja-JP" dirty="0" smtClean="0"/>
              <a:t>Show a special GUI for editing a (structured) value (</a:t>
            </a:r>
            <a:r>
              <a:rPr lang="en-US" altLang="ja-JP" dirty="0" smtClean="0">
                <a:solidFill>
                  <a:schemeClr val="accent5"/>
                </a:solidFill>
              </a:rPr>
              <a:t>an identifier in blue </a:t>
            </a:r>
            <a:r>
              <a:rPr lang="en-US" altLang="ja-JP" dirty="0" smtClean="0"/>
              <a:t>on the </a:t>
            </a:r>
            <a:r>
              <a:rPr lang="en-US" altLang="ja-JP" b="1" dirty="0" smtClean="0"/>
              <a:t>#PROPERTY_ID</a:t>
            </a:r>
            <a:r>
              <a:rPr lang="en-US" altLang="ja-JP" dirty="0" smtClean="0"/>
              <a:t> line indicates that the column has a special GUI)</a:t>
            </a:r>
          </a:p>
          <a:p>
            <a:pPr marL="914400" lvl="1" indent="-457200">
              <a:buFont typeface="+mj-lt"/>
              <a:buAutoNum type="alphaUcParenR"/>
            </a:pPr>
            <a:r>
              <a:rPr kumimoji="1" lang="en-US" altLang="ja-JP" dirty="0" smtClean="0"/>
              <a:t>Detailed usage will be available from a user manual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8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How to use (example)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525" y="1886744"/>
            <a:ext cx="6076950" cy="42291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21" y="4308736"/>
            <a:ext cx="3642688" cy="236864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591" y="5054420"/>
            <a:ext cx="3193409" cy="1689717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182" y="2381466"/>
            <a:ext cx="4370797" cy="2111447"/>
          </a:xfrm>
          <a:prstGeom prst="rect">
            <a:avLst/>
          </a:prstGeom>
        </p:spPr>
      </p:pic>
      <p:sp>
        <p:nvSpPr>
          <p:cNvPr id="8" name="角丸四角形 7"/>
          <p:cNvSpPr/>
          <p:nvPr/>
        </p:nvSpPr>
        <p:spPr>
          <a:xfrm>
            <a:off x="4429727" y="2133600"/>
            <a:ext cx="949565" cy="26172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3837709" y="4698800"/>
            <a:ext cx="949565" cy="26172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6442363" y="4642806"/>
            <a:ext cx="949565" cy="26172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下カーブ矢印 10"/>
          <p:cNvSpPr/>
          <p:nvPr/>
        </p:nvSpPr>
        <p:spPr>
          <a:xfrm rot="3232889">
            <a:off x="7205512" y="4766217"/>
            <a:ext cx="759263" cy="42651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下カーブ矢印 11"/>
          <p:cNvSpPr/>
          <p:nvPr/>
        </p:nvSpPr>
        <p:spPr>
          <a:xfrm rot="7099892">
            <a:off x="3653603" y="5028033"/>
            <a:ext cx="759263" cy="42651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下カーブ矢印 12"/>
          <p:cNvSpPr/>
          <p:nvPr/>
        </p:nvSpPr>
        <p:spPr>
          <a:xfrm rot="1800216">
            <a:off x="5331025" y="2073443"/>
            <a:ext cx="759263" cy="42651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5275257" y="1580572"/>
            <a:ext cx="362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A) </a:t>
            </a:r>
            <a:r>
              <a:rPr kumimoji="1" lang="en-US" altLang="ja-JP" b="1" i="1" dirty="0" smtClean="0">
                <a:solidFill>
                  <a:srgbClr val="FF0000"/>
                </a:solidFill>
              </a:rPr>
              <a:t>Parcel </a:t>
            </a:r>
            <a:r>
              <a:rPr kumimoji="1" lang="en-US" altLang="ja-JP" b="1" i="1" dirty="0" err="1" smtClean="0">
                <a:solidFill>
                  <a:srgbClr val="FF0000"/>
                </a:solidFill>
              </a:rPr>
              <a:t>Maker</a:t>
            </a:r>
            <a:r>
              <a:rPr kumimoji="1" lang="en-US" altLang="ja-JP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kumimoji="1" lang="en-US" altLang="ja-JP" b="1" i="1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Tools</a:t>
            </a:r>
            <a:r>
              <a:rPr kumimoji="1" lang="en-US" altLang="ja-JP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kumimoji="1" lang="en-US" altLang="ja-JP" b="1" i="1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Validation</a:t>
            </a:r>
            <a:endParaRPr kumimoji="1" lang="ja-JP" altLang="en-US" b="1" i="1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286085" y="5526918"/>
            <a:ext cx="325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B) </a:t>
            </a:r>
            <a:r>
              <a:rPr kumimoji="1" lang="en-US" altLang="ja-JP" b="1" i="1" dirty="0" smtClean="0">
                <a:solidFill>
                  <a:srgbClr val="FF0000"/>
                </a:solidFill>
              </a:rPr>
              <a:t>Context menu</a:t>
            </a:r>
            <a:r>
              <a:rPr kumimoji="1" lang="en-US" altLang="ja-JP" b="1" i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Class Viewer</a:t>
            </a:r>
            <a:endParaRPr kumimoji="1" lang="ja-JP" altLang="en-US" b="1" i="1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198663" y="5353490"/>
            <a:ext cx="2791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rgbClr val="FF0000"/>
                </a:solidFill>
              </a:rPr>
              <a:t>C) </a:t>
            </a:r>
            <a:r>
              <a:rPr kumimoji="1" lang="en-US" altLang="ja-JP" b="1" i="1" dirty="0" smtClean="0">
                <a:solidFill>
                  <a:srgbClr val="FF0000"/>
                </a:solidFill>
              </a:rPr>
              <a:t>Double-clicking a cell on </a:t>
            </a:r>
          </a:p>
          <a:p>
            <a:r>
              <a:rPr kumimoji="1" lang="en-US" altLang="ja-JP" b="1" i="1" dirty="0" smtClean="0">
                <a:solidFill>
                  <a:srgbClr val="FF0000"/>
                </a:solidFill>
              </a:rPr>
              <a:t>MDC_P021(data type)</a:t>
            </a:r>
            <a:endParaRPr kumimoji="1" lang="ja-JP" altLang="en-US" b="1" i="1" dirty="0">
              <a:solidFill>
                <a:srgbClr val="FF0000"/>
              </a:solidFill>
            </a:endParaRPr>
          </a:p>
        </p:txBody>
      </p:sp>
      <p:sp>
        <p:nvSpPr>
          <p:cNvPr id="17" name="スライド番号プレースホルダー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07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System requirements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Microsot</a:t>
            </a:r>
            <a:r>
              <a:rPr kumimoji="1" lang="en-US" altLang="ja-JP" dirty="0" smtClean="0"/>
              <a:t>® Windows® 7® or later (32/</a:t>
            </a:r>
            <a:r>
              <a:rPr lang="en-US" altLang="ja-JP" dirty="0" smtClean="0"/>
              <a:t>64 bit)</a:t>
            </a:r>
            <a:endParaRPr kumimoji="1" lang="en-US" altLang="ja-JP" dirty="0" smtClean="0"/>
          </a:p>
          <a:p>
            <a:r>
              <a:rPr kumimoji="1" lang="en-US" altLang="ja-JP" dirty="0" smtClean="0"/>
              <a:t>Microsoft® Excel® 2010 or later (32/64 bit)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916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How to start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Install </a:t>
            </a:r>
            <a:r>
              <a:rPr lang="en-US" altLang="ja-JP" dirty="0" err="1" smtClean="0"/>
              <a:t>ParcelMaker</a:t>
            </a:r>
            <a:r>
              <a:rPr lang="en-US" altLang="ja-JP" baseline="30000" dirty="0" err="1" smtClean="0"/>
              <a:t>TM</a:t>
            </a:r>
            <a:r>
              <a:rPr lang="en-US" altLang="ja-JP" dirty="0" smtClean="0"/>
              <a:t> to your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Get a license file for your computer</a:t>
            </a:r>
          </a:p>
          <a:p>
            <a:pPr lvl="1"/>
            <a:r>
              <a:rPr kumimoji="1" lang="en-US" altLang="ja-JP" dirty="0" smtClean="0"/>
              <a:t>Inform the developer of MAC address(</a:t>
            </a:r>
            <a:r>
              <a:rPr kumimoji="1" lang="en-US" altLang="ja-JP" dirty="0" err="1" smtClean="0"/>
              <a:t>es</a:t>
            </a:r>
            <a:r>
              <a:rPr kumimoji="1" lang="en-US" altLang="ja-JP" dirty="0" smtClean="0"/>
              <a:t>) of your computer by e-mail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Copy your</a:t>
            </a:r>
            <a:r>
              <a:rPr kumimoji="1" lang="en-US" altLang="ja-JP" dirty="0" smtClean="0"/>
              <a:t> license file to the </a:t>
            </a:r>
            <a:r>
              <a:rPr kumimoji="1" lang="en-US" altLang="ja-JP" b="1" i="1" dirty="0" err="1" smtClean="0"/>
              <a:t>Addin</a:t>
            </a:r>
            <a:r>
              <a:rPr kumimoji="1" lang="en-US" altLang="ja-JP" dirty="0" smtClean="0"/>
              <a:t> folder under the </a:t>
            </a:r>
            <a:r>
              <a:rPr kumimoji="1" lang="en-US" altLang="ja-JP" dirty="0" err="1" smtClean="0"/>
              <a:t>ParcelMaker</a:t>
            </a:r>
            <a:r>
              <a:rPr kumimoji="1" lang="en-US" altLang="ja-JP" baseline="30000" dirty="0" err="1" smtClean="0"/>
              <a:t>TM</a:t>
            </a:r>
            <a:r>
              <a:rPr kumimoji="1" lang="en-US" altLang="ja-JP" dirty="0" smtClean="0"/>
              <a:t> installation directory.</a:t>
            </a:r>
          </a:p>
          <a:p>
            <a:pPr lvl="1"/>
            <a:r>
              <a:rPr lang="en-US" altLang="ja-JP" dirty="0" smtClean="0"/>
              <a:t>“</a:t>
            </a:r>
            <a:r>
              <a:rPr lang="en-US" altLang="ja-JP" b="1" dirty="0" smtClean="0"/>
              <a:t>C:\Program Files (x86)\Toshiba\Parcel Maker\</a:t>
            </a:r>
            <a:r>
              <a:rPr lang="en-US" altLang="ja-JP" b="1" dirty="0" err="1" smtClean="0"/>
              <a:t>Addin</a:t>
            </a:r>
            <a:r>
              <a:rPr lang="en-US" altLang="ja-JP" dirty="0" smtClean="0"/>
              <a:t>”, </a:t>
            </a:r>
            <a:r>
              <a:rPr lang="en-US" altLang="ja-JP" dirty="0"/>
              <a:t>a</a:t>
            </a:r>
            <a:r>
              <a:rPr lang="en-US" altLang="ja-JP" dirty="0" smtClean="0"/>
              <a:t>s default.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Enable the </a:t>
            </a:r>
            <a:r>
              <a:rPr lang="en-US" altLang="ja-JP" dirty="0" err="1" smtClean="0"/>
              <a:t>ParcelMaker</a:t>
            </a:r>
            <a:r>
              <a:rPr lang="en-US" altLang="ja-JP" baseline="30000" dirty="0" err="1" smtClean="0"/>
              <a:t>TM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addin</a:t>
            </a:r>
            <a:endParaRPr lang="en-US" altLang="ja-JP" dirty="0"/>
          </a:p>
          <a:p>
            <a:pPr lvl="1"/>
            <a:r>
              <a:rPr kumimoji="1" lang="en-US" altLang="ja-JP" dirty="0" smtClean="0"/>
              <a:t>Click </a:t>
            </a:r>
            <a:r>
              <a:rPr kumimoji="1" lang="en-US" altLang="ja-JP" b="1" i="1" dirty="0" smtClean="0"/>
              <a:t>Excel Option</a:t>
            </a:r>
            <a:endParaRPr lang="en-US" altLang="ja-JP" i="1" dirty="0">
              <a:sym typeface="Wingdings" panose="05000000000000000000" pitchFamily="2" charset="2"/>
            </a:endParaRPr>
          </a:p>
          <a:p>
            <a:pPr lvl="1"/>
            <a:r>
              <a:rPr kumimoji="1" lang="en-US" altLang="ja-JP" dirty="0" smtClean="0">
                <a:sym typeface="Wingdings" panose="05000000000000000000" pitchFamily="2" charset="2"/>
              </a:rPr>
              <a:t>Click </a:t>
            </a:r>
            <a:r>
              <a:rPr kumimoji="1" lang="en-US" altLang="ja-JP" b="1" i="1" dirty="0" smtClean="0">
                <a:sym typeface="Wingdings" panose="05000000000000000000" pitchFamily="2" charset="2"/>
              </a:rPr>
              <a:t>Add-ins</a:t>
            </a:r>
            <a:endParaRPr lang="en-US" altLang="ja-JP" i="1" dirty="0">
              <a:sym typeface="Wingdings" panose="05000000000000000000" pitchFamily="2" charset="2"/>
            </a:endParaRPr>
          </a:p>
          <a:p>
            <a:pPr lvl="1"/>
            <a:r>
              <a:rPr lang="en-US" altLang="ja-JP" dirty="0" smtClean="0">
                <a:sym typeface="Wingdings" panose="05000000000000000000" pitchFamily="2" charset="2"/>
              </a:rPr>
              <a:t>Under </a:t>
            </a:r>
            <a:r>
              <a:rPr lang="en-US" altLang="ja-JP" b="1" i="1" dirty="0">
                <a:sym typeface="Wingdings" panose="05000000000000000000" pitchFamily="2" charset="2"/>
              </a:rPr>
              <a:t>Manage</a:t>
            </a:r>
            <a:r>
              <a:rPr lang="en-US" altLang="ja-JP" dirty="0">
                <a:sym typeface="Wingdings" panose="05000000000000000000" pitchFamily="2" charset="2"/>
              </a:rPr>
              <a:t>, click </a:t>
            </a:r>
            <a:r>
              <a:rPr lang="en-US" altLang="ja-JP" b="1" i="1" dirty="0">
                <a:sym typeface="Wingdings" panose="05000000000000000000" pitchFamily="2" charset="2"/>
              </a:rPr>
              <a:t>Excel Add </a:t>
            </a:r>
            <a:r>
              <a:rPr lang="en-US" altLang="ja-JP" b="1" i="1" dirty="0" smtClean="0">
                <a:sym typeface="Wingdings" panose="05000000000000000000" pitchFamily="2" charset="2"/>
              </a:rPr>
              <a:t>ins</a:t>
            </a:r>
            <a:r>
              <a:rPr lang="en-US" altLang="ja-JP" dirty="0" smtClean="0">
                <a:sym typeface="Wingdings" panose="05000000000000000000" pitchFamily="2" charset="2"/>
              </a:rPr>
              <a:t> and then click </a:t>
            </a:r>
            <a:r>
              <a:rPr lang="en-US" altLang="ja-JP" b="1" i="1" dirty="0" smtClean="0">
                <a:sym typeface="Wingdings" panose="05000000000000000000" pitchFamily="2" charset="2"/>
              </a:rPr>
              <a:t>Go</a:t>
            </a:r>
            <a:endParaRPr lang="en-US" altLang="ja-JP" i="1" dirty="0">
              <a:sym typeface="Wingdings" panose="05000000000000000000" pitchFamily="2" charset="2"/>
            </a:endParaRPr>
          </a:p>
          <a:p>
            <a:pPr lvl="1"/>
            <a:r>
              <a:rPr lang="en-US" altLang="ja-JP" dirty="0" smtClean="0">
                <a:sym typeface="Wingdings" panose="05000000000000000000" pitchFamily="2" charset="2"/>
              </a:rPr>
              <a:t>In the Add-Ins dialog box, click </a:t>
            </a:r>
            <a:r>
              <a:rPr lang="en-US" altLang="ja-JP" b="1" i="1" dirty="0" smtClean="0">
                <a:sym typeface="Wingdings" panose="05000000000000000000" pitchFamily="2" charset="2"/>
              </a:rPr>
              <a:t>Browse</a:t>
            </a:r>
            <a:r>
              <a:rPr lang="en-US" altLang="ja-JP" dirty="0" smtClean="0">
                <a:sym typeface="Wingdings" panose="05000000000000000000" pitchFamily="2" charset="2"/>
              </a:rPr>
              <a:t> and then select </a:t>
            </a:r>
            <a:r>
              <a:rPr lang="en-US" altLang="ja-JP" b="1" i="1" dirty="0" smtClean="0">
                <a:sym typeface="Wingdings" panose="05000000000000000000" pitchFamily="2" charset="2"/>
              </a:rPr>
              <a:t>ParcelMaker.xla</a:t>
            </a:r>
            <a:r>
              <a:rPr lang="en-US" altLang="ja-JP" dirty="0" smtClean="0">
                <a:sym typeface="Wingdings" panose="05000000000000000000" pitchFamily="2" charset="2"/>
              </a:rPr>
              <a:t> in the above the </a:t>
            </a:r>
            <a:r>
              <a:rPr lang="en-US" altLang="ja-JP" b="1" i="1" dirty="0" err="1" smtClean="0">
                <a:sym typeface="Wingdings" panose="05000000000000000000" pitchFamily="2" charset="2"/>
              </a:rPr>
              <a:t>Addin</a:t>
            </a:r>
            <a:r>
              <a:rPr lang="en-US" altLang="ja-JP" dirty="0" smtClean="0">
                <a:sym typeface="Wingdings" panose="05000000000000000000" pitchFamily="2" charset="2"/>
              </a:rPr>
              <a:t> folder.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>
                <a:sym typeface="Wingdings" panose="05000000000000000000" pitchFamily="2" charset="2"/>
              </a:rPr>
              <a:t>After restart Microsoft® Excel®, </a:t>
            </a:r>
            <a:r>
              <a:rPr lang="en-US" altLang="ja-JP" b="1" i="1" dirty="0" err="1" smtClean="0">
                <a:sym typeface="Wingdings" panose="05000000000000000000" pitchFamily="2" charset="2"/>
              </a:rPr>
              <a:t>ParcelMaker</a:t>
            </a:r>
            <a:r>
              <a:rPr lang="en-US" altLang="ja-JP" dirty="0" smtClean="0">
                <a:sym typeface="Wingdings" panose="05000000000000000000" pitchFamily="2" charset="2"/>
              </a:rPr>
              <a:t> menu will appear in the </a:t>
            </a:r>
            <a:r>
              <a:rPr lang="en-US" altLang="ja-JP" b="1" i="1" dirty="0" err="1" smtClean="0">
                <a:sym typeface="Wingdings" panose="05000000000000000000" pitchFamily="2" charset="2"/>
              </a:rPr>
              <a:t>Addin</a:t>
            </a:r>
            <a:r>
              <a:rPr lang="en-US" altLang="ja-JP" dirty="0" smtClean="0">
                <a:sym typeface="Wingdings" panose="05000000000000000000" pitchFamily="2" charset="2"/>
              </a:rPr>
              <a:t> menu.</a:t>
            </a:r>
          </a:p>
          <a:p>
            <a:pPr marL="0" indent="0">
              <a:buNone/>
            </a:pPr>
            <a:endParaRPr kumimoji="1" lang="en-US" altLang="ja-JP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ja-JP" sz="2500" dirty="0" smtClean="0">
                <a:sym typeface="Wingdings" panose="05000000000000000000" pitchFamily="2" charset="2"/>
              </a:rPr>
              <a:t>Note: If the </a:t>
            </a:r>
            <a:r>
              <a:rPr lang="en-US" altLang="ja-JP" sz="2500" b="1" i="1" dirty="0" err="1" smtClean="0">
                <a:sym typeface="Wingdings" panose="05000000000000000000" pitchFamily="2" charset="2"/>
              </a:rPr>
              <a:t>Addin</a:t>
            </a:r>
            <a:r>
              <a:rPr lang="en-US" altLang="ja-JP" sz="2500" dirty="0" smtClean="0">
                <a:sym typeface="Wingdings" panose="05000000000000000000" pitchFamily="2" charset="2"/>
              </a:rPr>
              <a:t> menu does not appear, please add </a:t>
            </a:r>
            <a:r>
              <a:rPr lang="en-US" altLang="ja-JP" sz="2500" dirty="0"/>
              <a:t>“</a:t>
            </a:r>
            <a:r>
              <a:rPr lang="en-US" altLang="ja-JP" sz="2500" b="1" dirty="0"/>
              <a:t>C:\Program Files (x86)\Toshiba\Parcel Maker\</a:t>
            </a:r>
            <a:r>
              <a:rPr lang="en-US" altLang="ja-JP" sz="2500" b="1" dirty="0" err="1"/>
              <a:t>Addin</a:t>
            </a:r>
            <a:r>
              <a:rPr lang="en-US" altLang="ja-JP" sz="2500" dirty="0" smtClean="0"/>
              <a:t>” as a trusted location. </a:t>
            </a:r>
            <a:r>
              <a:rPr lang="en-US" altLang="ja-JP" sz="2500" smtClean="0"/>
              <a:t>Trusted locations </a:t>
            </a:r>
            <a:r>
              <a:rPr lang="en-US" altLang="ja-JP" sz="2500" dirty="0" smtClean="0"/>
              <a:t>setting is </a:t>
            </a:r>
            <a:r>
              <a:rPr lang="en-US" altLang="ja-JP" sz="2500" dirty="0" smtClean="0"/>
              <a:t>available from </a:t>
            </a:r>
            <a:r>
              <a:rPr lang="en-US" altLang="ja-JP" sz="2500" b="1" i="1" dirty="0" smtClean="0"/>
              <a:t>Trust </a:t>
            </a:r>
            <a:r>
              <a:rPr lang="en-US" altLang="ja-JP" sz="2500" b="1" i="1" dirty="0" smtClean="0"/>
              <a:t>Center</a:t>
            </a:r>
            <a:r>
              <a:rPr lang="en-US" altLang="ja-JP" sz="2500" dirty="0" smtClean="0"/>
              <a:t> in </a:t>
            </a:r>
            <a:r>
              <a:rPr lang="en-US" altLang="ja-JP" sz="2500" b="1" i="1" dirty="0" smtClean="0"/>
              <a:t>Excel Option</a:t>
            </a:r>
            <a:r>
              <a:rPr lang="en-US" altLang="ja-JP" sz="2500" dirty="0" smtClean="0"/>
              <a:t>.</a:t>
            </a:r>
            <a:endParaRPr kumimoji="1" lang="ja-JP" altLang="en-US" sz="2500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76500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Contact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If you need to have your license or have any question, please contact</a:t>
            </a:r>
          </a:p>
          <a:p>
            <a:pPr lvl="1"/>
            <a:r>
              <a:rPr lang="en-US" altLang="ja-JP" dirty="0" smtClean="0"/>
              <a:t>Mr. Akira HOSOKAWA (akira.hosokawa@toshiba.co.jp)</a:t>
            </a:r>
          </a:p>
          <a:p>
            <a:pPr lvl="1"/>
            <a:r>
              <a:rPr kumimoji="1" lang="en-US" altLang="ja-JP" dirty="0" smtClean="0"/>
              <a:t>Mr. Hiroshi MURAYAMA (smarthiroshi.icloud.com)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22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正方形/長方形 4"/>
          <p:cNvSpPr/>
          <p:nvPr/>
        </p:nvSpPr>
        <p:spPr>
          <a:xfrm>
            <a:off x="665701" y="3107856"/>
            <a:ext cx="78496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 dirty="0"/>
              <a:t>Tutorial for defining your data dictionary </a:t>
            </a:r>
            <a:endParaRPr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85265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000" dirty="0" smtClean="0"/>
              <a:t>Tutorial for </a:t>
            </a:r>
            <a:r>
              <a:rPr lang="en-US" altLang="ja-JP" sz="4000" dirty="0" smtClean="0"/>
              <a:t>beginners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ja-JP" sz="2400" dirty="0" smtClean="0"/>
              <a:t>This tutorial shows how to describe a data dictionary by using </a:t>
            </a:r>
            <a:r>
              <a:rPr kumimoji="1" lang="en-US" altLang="ja-JP" sz="2400" dirty="0" err="1" smtClean="0"/>
              <a:t>ParcelMaker</a:t>
            </a:r>
            <a:r>
              <a:rPr kumimoji="1" lang="en-US" altLang="ja-JP" sz="2400" baseline="30000" dirty="0" err="1" smtClean="0"/>
              <a:t>TM</a:t>
            </a:r>
            <a:r>
              <a:rPr lang="en-US" altLang="ja-JP" sz="2400" dirty="0"/>
              <a:t> </a:t>
            </a:r>
            <a:r>
              <a:rPr lang="en-US" altLang="ja-JP" sz="2400" dirty="0" smtClean="0"/>
              <a:t>with a simple example which uses only basic feature of IEC 61360-2/IEC 62656-1.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Typical steps are as follows;</a:t>
            </a:r>
            <a:endParaRPr kumimoji="1" lang="en-US" altLang="ja-JP" sz="2400" dirty="0" smtClean="0"/>
          </a:p>
          <a:p>
            <a:pPr marL="971550" lvl="1" indent="-514350">
              <a:buFont typeface="+mj-lt"/>
              <a:buAutoNum type="arabicPeriod"/>
            </a:pPr>
            <a:r>
              <a:rPr kumimoji="1" lang="en-US" altLang="ja-JP" sz="2000" dirty="0" smtClean="0"/>
              <a:t>Design your data dictionary,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en-US" altLang="ja-JP" sz="2000" dirty="0" smtClean="0"/>
              <a:t>Prepare parcel sheets,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ja-JP" sz="2000" dirty="0" smtClean="0"/>
              <a:t>Edit details of each concept,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ja-JP" sz="2000" dirty="0" smtClean="0"/>
              <a:t>View the class hierarchy of your data dictionary,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en-US" altLang="ja-JP" sz="2000" dirty="0" smtClean="0"/>
              <a:t>Validate your data dictionary.</a:t>
            </a:r>
          </a:p>
          <a:p>
            <a:pPr marL="457200" lvl="1" indent="0">
              <a:buNone/>
            </a:pPr>
            <a:r>
              <a:rPr kumimoji="1" lang="en-US" altLang="ja-JP" sz="2000" dirty="0" smtClean="0"/>
              <a:t>(informative) Small tips</a:t>
            </a:r>
          </a:p>
          <a:p>
            <a:pPr marL="457200" lvl="1" indent="0">
              <a:buNone/>
            </a:pPr>
            <a:endParaRPr kumimoji="1" lang="en-US" altLang="ja-JP" sz="2000" dirty="0" smtClean="0"/>
          </a:p>
          <a:p>
            <a:r>
              <a:rPr lang="en-US" altLang="ja-JP" sz="1800" dirty="0" smtClean="0"/>
              <a:t>NOTE1: For </a:t>
            </a:r>
            <a:r>
              <a:rPr lang="en-US" altLang="ja-JP" sz="1800" dirty="0"/>
              <a:t>information of advanced one, please look at IEC 61360-1/IEC 62656-2 </a:t>
            </a:r>
            <a:r>
              <a:rPr lang="en-US" altLang="ja-JP" sz="1800" dirty="0" smtClean="0"/>
              <a:t>(guide for IEC 61360-2/IEC 62656-1, respectively).</a:t>
            </a:r>
          </a:p>
          <a:p>
            <a:r>
              <a:rPr kumimoji="1" lang="en-US" altLang="ja-JP" sz="1800" dirty="0" smtClean="0"/>
              <a:t>NOTE2: Parcel sheets of existing standardized data dictionaries will be available from the IEC CDD website.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255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正方形/長方形 101"/>
          <p:cNvSpPr/>
          <p:nvPr/>
        </p:nvSpPr>
        <p:spPr>
          <a:xfrm>
            <a:off x="7108513" y="4806542"/>
            <a:ext cx="1624084" cy="1805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ja-JP" sz="1400" dirty="0" smtClean="0">
                <a:solidFill>
                  <a:schemeClr val="tx1"/>
                </a:solidFill>
              </a:rPr>
              <a:t>Legend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1. Design </a:t>
            </a:r>
            <a:r>
              <a:rPr lang="en-US" altLang="ja-JP" dirty="0"/>
              <a:t>your data </a:t>
            </a:r>
            <a:r>
              <a:rPr lang="en-US" altLang="ja-JP" dirty="0" smtClean="0"/>
              <a:t>dictionary</a:t>
            </a:r>
            <a:endParaRPr kumimoji="1" lang="ja-JP" altLang="en-US" dirty="0"/>
          </a:p>
        </p:txBody>
      </p:sp>
      <p:sp>
        <p:nvSpPr>
          <p:cNvPr id="4" name="円/楕円 3"/>
          <p:cNvSpPr/>
          <p:nvPr/>
        </p:nvSpPr>
        <p:spPr>
          <a:xfrm>
            <a:off x="219207" y="1849249"/>
            <a:ext cx="1964429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TOS#C001</a:t>
            </a:r>
            <a:r>
              <a:rPr lang="en-US" altLang="ja-JP" sz="1400" b="1" dirty="0">
                <a:solidFill>
                  <a:schemeClr val="tx1"/>
                </a:solidFill>
              </a:rPr>
              <a:t>##</a:t>
            </a:r>
            <a:r>
              <a:rPr lang="en-US" altLang="ja-JP" sz="1400" b="1" dirty="0" smtClean="0">
                <a:solidFill>
                  <a:schemeClr val="tx1"/>
                </a:solidFill>
              </a:rPr>
              <a:t>001</a:t>
            </a:r>
          </a:p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Nut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円/楕円 4"/>
          <p:cNvSpPr/>
          <p:nvPr/>
        </p:nvSpPr>
        <p:spPr>
          <a:xfrm>
            <a:off x="1856937" y="4342492"/>
            <a:ext cx="1964431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TOS#C002##</a:t>
            </a:r>
            <a:r>
              <a:rPr lang="en-US" altLang="ja-JP" sz="1400" b="1" dirty="0">
                <a:solidFill>
                  <a:schemeClr val="tx1"/>
                </a:solidFill>
              </a:rPr>
              <a:t>001</a:t>
            </a:r>
          </a:p>
          <a:p>
            <a:pPr algn="ctr"/>
            <a:r>
              <a:rPr kumimoji="1" lang="en-US" altLang="ja-JP" sz="1400" b="1" dirty="0" smtClean="0">
                <a:solidFill>
                  <a:schemeClr val="tx1"/>
                </a:solidFill>
              </a:rPr>
              <a:t>Hexagon nut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円/楕円 5"/>
          <p:cNvSpPr/>
          <p:nvPr/>
        </p:nvSpPr>
        <p:spPr>
          <a:xfrm>
            <a:off x="1856937" y="5536097"/>
            <a:ext cx="1964431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TOS#C003##001</a:t>
            </a:r>
            <a:endParaRPr kumimoji="1" lang="en-US" altLang="ja-JP" sz="1400" b="1" dirty="0" smtClean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400" b="1" dirty="0" smtClean="0">
                <a:solidFill>
                  <a:schemeClr val="tx1"/>
                </a:solidFill>
              </a:rPr>
              <a:t>Wing nut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二等辺三角形 6"/>
          <p:cNvSpPr/>
          <p:nvPr/>
        </p:nvSpPr>
        <p:spPr>
          <a:xfrm>
            <a:off x="1298137" y="2599857"/>
            <a:ext cx="216000" cy="2160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cxnSp>
        <p:nvCxnSpPr>
          <p:cNvPr id="9" name="カギ線コネクタ 8"/>
          <p:cNvCxnSpPr>
            <a:stCxn id="5" idx="2"/>
            <a:endCxn id="7" idx="3"/>
          </p:cNvCxnSpPr>
          <p:nvPr/>
        </p:nvCxnSpPr>
        <p:spPr>
          <a:xfrm rot="10800000">
            <a:off x="1406137" y="2815858"/>
            <a:ext cx="450800" cy="188663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/>
          <p:cNvCxnSpPr>
            <a:stCxn id="6" idx="2"/>
            <a:endCxn id="7" idx="3"/>
          </p:cNvCxnSpPr>
          <p:nvPr/>
        </p:nvCxnSpPr>
        <p:spPr>
          <a:xfrm rot="10800000">
            <a:off x="1406137" y="2815857"/>
            <a:ext cx="450800" cy="308024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65046" y="3201784"/>
            <a:ext cx="14274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i="1" dirty="0" smtClean="0"/>
              <a:t>is-a relationship, where all properties of a class are inherited to its sub classes</a:t>
            </a:r>
            <a:endParaRPr kumimoji="1" lang="ja-JP" altLang="en-US" sz="1400" i="1" dirty="0"/>
          </a:p>
        </p:txBody>
      </p:sp>
      <p:sp>
        <p:nvSpPr>
          <p:cNvPr id="16" name="正方形/長方形 15"/>
          <p:cNvSpPr/>
          <p:nvPr/>
        </p:nvSpPr>
        <p:spPr>
          <a:xfrm>
            <a:off x="4148905" y="1369724"/>
            <a:ext cx="1746915" cy="538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TOS#P0001##</a:t>
            </a:r>
            <a:r>
              <a:rPr lang="en-US" altLang="ja-JP" sz="1400" b="1" dirty="0" smtClean="0">
                <a:solidFill>
                  <a:schemeClr val="tx1"/>
                </a:solidFill>
              </a:rPr>
              <a:t>001</a:t>
            </a:r>
          </a:p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manufacturer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4148905" y="2004325"/>
            <a:ext cx="1746915" cy="538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TOS#P0002##001</a:t>
            </a:r>
          </a:p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material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4148906" y="2640430"/>
            <a:ext cx="1746915" cy="538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TOS#P0003##001</a:t>
            </a:r>
          </a:p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Height of nut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4148905" y="3272768"/>
            <a:ext cx="1746915" cy="538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TOS#P0004##001</a:t>
            </a:r>
          </a:p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pitch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4148905" y="4430058"/>
            <a:ext cx="1746915" cy="538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TOS#P0003##001</a:t>
            </a: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width across flats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4148905" y="5626970"/>
            <a:ext cx="1746915" cy="538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TOS#P0004##001</a:t>
            </a: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height of wing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27" name="直線コネクタ 26"/>
          <p:cNvCxnSpPr>
            <a:stCxn id="4" idx="6"/>
            <a:endCxn id="16" idx="1"/>
          </p:cNvCxnSpPr>
          <p:nvPr/>
        </p:nvCxnSpPr>
        <p:spPr>
          <a:xfrm flipV="1">
            <a:off x="2183636" y="1638851"/>
            <a:ext cx="1965269" cy="5703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4" idx="6"/>
            <a:endCxn id="17" idx="1"/>
          </p:cNvCxnSpPr>
          <p:nvPr/>
        </p:nvCxnSpPr>
        <p:spPr>
          <a:xfrm>
            <a:off x="2183636" y="2209249"/>
            <a:ext cx="1965269" cy="642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>
            <a:stCxn id="4" idx="6"/>
            <a:endCxn id="18" idx="1"/>
          </p:cNvCxnSpPr>
          <p:nvPr/>
        </p:nvCxnSpPr>
        <p:spPr>
          <a:xfrm>
            <a:off x="2183636" y="2209249"/>
            <a:ext cx="1965270" cy="7003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>
            <a:stCxn id="4" idx="6"/>
            <a:endCxn id="19" idx="1"/>
          </p:cNvCxnSpPr>
          <p:nvPr/>
        </p:nvCxnSpPr>
        <p:spPr>
          <a:xfrm>
            <a:off x="2183636" y="2209249"/>
            <a:ext cx="1965269" cy="1332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>
            <a:stCxn id="5" idx="6"/>
            <a:endCxn id="20" idx="1"/>
          </p:cNvCxnSpPr>
          <p:nvPr/>
        </p:nvCxnSpPr>
        <p:spPr>
          <a:xfrm flipV="1">
            <a:off x="3821368" y="4699185"/>
            <a:ext cx="327537" cy="3307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/>
          <p:cNvCxnSpPr>
            <a:stCxn id="6" idx="6"/>
            <a:endCxn id="21" idx="1"/>
          </p:cNvCxnSpPr>
          <p:nvPr/>
        </p:nvCxnSpPr>
        <p:spPr>
          <a:xfrm>
            <a:off x="3821368" y="5896097"/>
            <a:ext cx="327537" cy="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正方形/長方形 56"/>
          <p:cNvSpPr/>
          <p:nvPr/>
        </p:nvSpPr>
        <p:spPr>
          <a:xfrm>
            <a:off x="6753083" y="1892369"/>
            <a:ext cx="1938835" cy="7621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TOS#E0001##001</a:t>
            </a: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Enumerated code </a:t>
            </a:r>
            <a:r>
              <a:rPr lang="en-US" altLang="ja-JP" sz="1400" b="1" dirty="0" smtClean="0">
                <a:solidFill>
                  <a:schemeClr val="tx1"/>
                </a:solidFill>
              </a:rPr>
              <a:t>list</a:t>
            </a:r>
          </a:p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 for </a:t>
            </a:r>
            <a:r>
              <a:rPr lang="en-US" altLang="ja-JP" sz="1400" b="1" dirty="0">
                <a:solidFill>
                  <a:schemeClr val="tx1"/>
                </a:solidFill>
              </a:rPr>
              <a:t>materials of nut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60" name="正方形/長方形 59"/>
          <p:cNvSpPr/>
          <p:nvPr/>
        </p:nvSpPr>
        <p:spPr>
          <a:xfrm>
            <a:off x="7380865" y="3157837"/>
            <a:ext cx="1639440" cy="6393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solidFill>
                  <a:schemeClr val="tx1"/>
                </a:solidFill>
              </a:rPr>
              <a:t>TOS#T0001##</a:t>
            </a:r>
            <a:r>
              <a:rPr lang="en-US" altLang="ja-JP" sz="1400" b="1" dirty="0" smtClean="0">
                <a:solidFill>
                  <a:schemeClr val="tx1"/>
                </a:solidFill>
              </a:rPr>
              <a:t>001</a:t>
            </a:r>
          </a:p>
          <a:p>
            <a:pPr algn="ctr"/>
            <a:r>
              <a:rPr lang="en-US" altLang="ja-JP" sz="1400" b="1" dirty="0" err="1" smtClean="0">
                <a:solidFill>
                  <a:schemeClr val="tx1"/>
                </a:solidFill>
              </a:rPr>
              <a:t>Waspaloy</a:t>
            </a:r>
            <a:endParaRPr lang="en-US" altLang="ja-JP" sz="1400" b="1" dirty="0">
              <a:solidFill>
                <a:schemeClr val="tx1"/>
              </a:solidFill>
            </a:endParaRPr>
          </a:p>
        </p:txBody>
      </p:sp>
      <p:sp>
        <p:nvSpPr>
          <p:cNvPr id="61" name="正方形/長方形 60"/>
          <p:cNvSpPr/>
          <p:nvPr/>
        </p:nvSpPr>
        <p:spPr>
          <a:xfrm>
            <a:off x="7340777" y="3987141"/>
            <a:ext cx="1679528" cy="6162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TOS#T0002##001</a:t>
            </a:r>
          </a:p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SUS303</a:t>
            </a:r>
            <a:endParaRPr lang="en-US" altLang="ja-JP" sz="1400" b="1" dirty="0">
              <a:solidFill>
                <a:schemeClr val="tx1"/>
              </a:solidFill>
            </a:endParaRPr>
          </a:p>
        </p:txBody>
      </p:sp>
      <p:cxnSp>
        <p:nvCxnSpPr>
          <p:cNvPr id="75" name="直線コネクタ 74"/>
          <p:cNvCxnSpPr>
            <a:stCxn id="17" idx="3"/>
            <a:endCxn id="57" idx="1"/>
          </p:cNvCxnSpPr>
          <p:nvPr/>
        </p:nvCxnSpPr>
        <p:spPr>
          <a:xfrm>
            <a:off x="5895820" y="2273452"/>
            <a:ext cx="8572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/>
          <p:cNvCxnSpPr/>
          <p:nvPr/>
        </p:nvCxnSpPr>
        <p:spPr>
          <a:xfrm>
            <a:off x="7014949" y="2654535"/>
            <a:ext cx="0" cy="16407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/>
          <p:cNvCxnSpPr>
            <a:endCxn id="60" idx="1"/>
          </p:cNvCxnSpPr>
          <p:nvPr/>
        </p:nvCxnSpPr>
        <p:spPr>
          <a:xfrm>
            <a:off x="7014949" y="3477488"/>
            <a:ext cx="3659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/>
          <p:cNvCxnSpPr>
            <a:endCxn id="61" idx="1"/>
          </p:cNvCxnSpPr>
          <p:nvPr/>
        </p:nvCxnSpPr>
        <p:spPr>
          <a:xfrm>
            <a:off x="7034993" y="4295282"/>
            <a:ext cx="3057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円/楕円 94"/>
          <p:cNvSpPr/>
          <p:nvPr/>
        </p:nvSpPr>
        <p:spPr>
          <a:xfrm>
            <a:off x="7406629" y="5224345"/>
            <a:ext cx="846590" cy="238201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class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7406630" y="5509514"/>
            <a:ext cx="846590" cy="2691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property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7406629" y="5846977"/>
            <a:ext cx="1201431" cy="2691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enumeration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98" name="正方形/長方形 97"/>
          <p:cNvSpPr/>
          <p:nvPr/>
        </p:nvSpPr>
        <p:spPr>
          <a:xfrm>
            <a:off x="7406629" y="6184440"/>
            <a:ext cx="848298" cy="2691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solidFill>
                  <a:schemeClr val="tx1"/>
                </a:solidFill>
              </a:rPr>
              <a:t>term</a:t>
            </a:r>
            <a:endParaRPr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99" name="テキスト ボックス 98"/>
          <p:cNvSpPr txBox="1"/>
          <p:nvPr/>
        </p:nvSpPr>
        <p:spPr>
          <a:xfrm>
            <a:off x="1901852" y="2937795"/>
            <a:ext cx="17662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i="1" dirty="0" smtClean="0"/>
              <a:t>properties which are newly applicable to this class</a:t>
            </a:r>
            <a:endParaRPr kumimoji="1" lang="ja-JP" altLang="en-US" sz="1400" i="1" dirty="0"/>
          </a:p>
        </p:txBody>
      </p:sp>
      <p:sp>
        <p:nvSpPr>
          <p:cNvPr id="100" name="テキスト ボックス 99"/>
          <p:cNvSpPr txBox="1"/>
          <p:nvPr/>
        </p:nvSpPr>
        <p:spPr>
          <a:xfrm>
            <a:off x="5915865" y="2452855"/>
            <a:ext cx="11191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i="1" dirty="0" smtClean="0"/>
              <a:t>a list of choices for enumeration type</a:t>
            </a:r>
            <a:endParaRPr kumimoji="1" lang="ja-JP" altLang="en-US" sz="1400" i="1" dirty="0"/>
          </a:p>
        </p:txBody>
      </p:sp>
      <p:sp>
        <p:nvSpPr>
          <p:cNvPr id="101" name="テキスト ボックス 100"/>
          <p:cNvSpPr txBox="1"/>
          <p:nvPr/>
        </p:nvSpPr>
        <p:spPr>
          <a:xfrm>
            <a:off x="6392675" y="3784386"/>
            <a:ext cx="715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i="1" dirty="0" smtClean="0"/>
              <a:t>choices</a:t>
            </a:r>
            <a:endParaRPr kumimoji="1" lang="ja-JP" altLang="en-US" sz="1400" i="1" dirty="0"/>
          </a:p>
        </p:txBody>
      </p:sp>
      <p:sp>
        <p:nvSpPr>
          <p:cNvPr id="104" name="スライド番号プレースホルダー 1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0114" y="6334780"/>
            <a:ext cx="694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/>
              <a:t>NOTE: In IEC 61360-2, any relationship between concepts shall be described by using those identifiers</a:t>
            </a:r>
            <a:endParaRPr kumimoji="1" lang="ja-JP" altLang="en-US" sz="1400" dirty="0"/>
          </a:p>
        </p:txBody>
      </p:sp>
      <p:sp>
        <p:nvSpPr>
          <p:cNvPr id="8" name="正方形/長方形 7"/>
          <p:cNvSpPr/>
          <p:nvPr/>
        </p:nvSpPr>
        <p:spPr>
          <a:xfrm>
            <a:off x="60114" y="1279947"/>
            <a:ext cx="3221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b="1" dirty="0" smtClean="0"/>
              <a:t>Example: Classification of “</a:t>
            </a:r>
            <a:r>
              <a:rPr lang="en-US" altLang="ja-JP" b="1" i="1" dirty="0" smtClean="0"/>
              <a:t>Nut”</a:t>
            </a:r>
            <a:endParaRPr lang="ja-JP" altLang="en-US" b="1" i="1" dirty="0"/>
          </a:p>
        </p:txBody>
      </p:sp>
    </p:spTree>
    <p:extLst>
      <p:ext uri="{BB962C8B-B14F-4D97-AF65-F5344CB8AC3E}">
        <p14:creationId xmlns:p14="http://schemas.microsoft.com/office/powerpoint/2010/main" val="183099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2. Prepare </a:t>
            </a:r>
            <a:r>
              <a:rPr lang="en-US" altLang="ja-JP" dirty="0"/>
              <a:t>parcel </a:t>
            </a:r>
            <a:r>
              <a:rPr lang="en-US" altLang="ja-JP" dirty="0" smtClean="0"/>
              <a:t>sheets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ja-JP" sz="2000" dirty="0" smtClean="0"/>
              <a:t>Execute Microsoft® Excel® from Windows </a:t>
            </a:r>
            <a:r>
              <a:rPr kumimoji="1" lang="en-US" altLang="ja-JP" sz="2000" dirty="0" err="1" smtClean="0"/>
              <a:t>startmenu</a:t>
            </a:r>
            <a:r>
              <a:rPr kumimoji="1" lang="en-US" altLang="ja-JP" sz="2000" dirty="0" smtClean="0"/>
              <a:t>,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sz="2000" dirty="0" smtClean="0"/>
              <a:t>Click </a:t>
            </a:r>
            <a:r>
              <a:rPr kumimoji="1" lang="en-US" altLang="ja-JP" sz="2000" b="1" i="1" dirty="0" smtClean="0"/>
              <a:t>Parcel </a:t>
            </a:r>
            <a:r>
              <a:rPr kumimoji="1" lang="en-US" altLang="ja-JP" sz="2000" b="1" i="1" dirty="0" err="1" smtClean="0"/>
              <a:t>Maker</a:t>
            </a:r>
            <a:r>
              <a:rPr kumimoji="1" lang="en-US" altLang="ja-JP" sz="2000" b="1" i="1" dirty="0" err="1" smtClean="0">
                <a:sym typeface="Wingdings" panose="05000000000000000000" pitchFamily="2" charset="2"/>
              </a:rPr>
              <a:t></a:t>
            </a:r>
            <a:r>
              <a:rPr lang="en-US" altLang="ja-JP" sz="2000" b="1" i="1" dirty="0" err="1" smtClean="0"/>
              <a:t>File</a:t>
            </a:r>
            <a:r>
              <a:rPr lang="en-US" altLang="ja-JP" sz="2000" dirty="0" err="1" smtClean="0">
                <a:sym typeface="Wingdings" panose="05000000000000000000" pitchFamily="2" charset="2"/>
              </a:rPr>
              <a:t></a:t>
            </a:r>
            <a:r>
              <a:rPr lang="en-US" altLang="ja-JP" sz="2000" b="1" i="1" dirty="0" err="1" smtClean="0">
                <a:sym typeface="Wingdings" panose="05000000000000000000" pitchFamily="2" charset="2"/>
              </a:rPr>
              <a:t>New</a:t>
            </a:r>
            <a:r>
              <a:rPr lang="en-US" altLang="ja-JP" sz="2000" dirty="0" smtClean="0">
                <a:sym typeface="Wingdings" panose="05000000000000000000" pitchFamily="2" charset="2"/>
              </a:rPr>
              <a:t> in the </a:t>
            </a:r>
            <a:r>
              <a:rPr lang="en-US" altLang="ja-JP" sz="2000" b="1" i="1" dirty="0" err="1" smtClean="0">
                <a:sym typeface="Wingdings" panose="05000000000000000000" pitchFamily="2" charset="2"/>
              </a:rPr>
              <a:t>Addin</a:t>
            </a:r>
            <a:r>
              <a:rPr lang="en-US" altLang="ja-JP" sz="2000" dirty="0" smtClean="0">
                <a:sym typeface="Wingdings" panose="05000000000000000000" pitchFamily="2" charset="2"/>
              </a:rPr>
              <a:t> menu,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sz="2000" dirty="0" smtClean="0"/>
              <a:t>In the Add Dictionary dialog box (see below), edit your data dictionary name in the </a:t>
            </a:r>
            <a:r>
              <a:rPr kumimoji="1" lang="en-US" altLang="ja-JP" sz="2000" b="1" i="1" dirty="0" smtClean="0"/>
              <a:t>Parcel ID</a:t>
            </a:r>
            <a:r>
              <a:rPr kumimoji="1" lang="en-US" altLang="ja-JP" sz="2000" dirty="0" smtClean="0"/>
              <a:t> textbox, and then check parcel sheets to be generated,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000" dirty="0" smtClean="0"/>
              <a:t>Click Add, and then those sheets as template will be generated on a new workbook.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8" y="4330024"/>
            <a:ext cx="4919167" cy="2295959"/>
          </a:xfrm>
          <a:prstGeom prst="rect">
            <a:avLst/>
          </a:prstGeom>
        </p:spPr>
      </p:pic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51820"/>
            <a:ext cx="4322785" cy="2298822"/>
          </a:xfrm>
          <a:prstGeom prst="rect">
            <a:avLst/>
          </a:prstGeom>
        </p:spPr>
      </p:pic>
      <p:sp>
        <p:nvSpPr>
          <p:cNvPr id="8" name="角丸四角形 7"/>
          <p:cNvSpPr/>
          <p:nvPr/>
        </p:nvSpPr>
        <p:spPr>
          <a:xfrm>
            <a:off x="4956952" y="6277967"/>
            <a:ext cx="3286296" cy="172675"/>
          </a:xfrm>
          <a:prstGeom prst="roundRect">
            <a:avLst>
              <a:gd name="adj" fmla="val 448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2161975" y="6317848"/>
            <a:ext cx="417451" cy="212556"/>
          </a:xfrm>
          <a:prstGeom prst="roundRect">
            <a:avLst>
              <a:gd name="adj" fmla="val 448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下カーブ矢印 9"/>
          <p:cNvSpPr/>
          <p:nvPr/>
        </p:nvSpPr>
        <p:spPr>
          <a:xfrm rot="21416192">
            <a:off x="2496432" y="5606866"/>
            <a:ext cx="2715102" cy="63888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93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 smtClean="0"/>
              <a:t>3. Edit </a:t>
            </a:r>
            <a:r>
              <a:rPr lang="en-US" altLang="ja-JP" sz="4000" dirty="0"/>
              <a:t>details of each </a:t>
            </a:r>
            <a:r>
              <a:rPr lang="en-US" altLang="ja-JP" sz="4000" dirty="0" smtClean="0"/>
              <a:t>concept (1/4)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2000" dirty="0" smtClean="0"/>
              <a:t>Common for each parcel sheet</a:t>
            </a:r>
          </a:p>
          <a:p>
            <a:pPr marL="800100" lvl="1" indent="-342900">
              <a:buFont typeface="+mj-lt"/>
              <a:buAutoNum type="alphaUcParenR"/>
            </a:pPr>
            <a:r>
              <a:rPr lang="en-US" altLang="ja-JP" sz="1800" dirty="0" smtClean="0"/>
              <a:t>Edit an identifier of a concept</a:t>
            </a:r>
            <a:r>
              <a:rPr lang="ja-JP" altLang="en-US" sz="1800" dirty="0"/>
              <a:t> </a:t>
            </a:r>
            <a:r>
              <a:rPr lang="en-US" altLang="ja-JP" sz="1800" dirty="0" smtClean="0">
                <a:sym typeface="Wingdings" panose="05000000000000000000" pitchFamily="2" charset="2"/>
              </a:rPr>
              <a:t> MDC_P001_n (n is integer)</a:t>
            </a:r>
            <a:endParaRPr lang="en-US" altLang="ja-JP" sz="1800" dirty="0" smtClean="0"/>
          </a:p>
          <a:p>
            <a:pPr marL="800100" lvl="1" indent="-342900">
              <a:buFont typeface="+mj-lt"/>
              <a:buAutoNum type="alphaUcParenR"/>
            </a:pPr>
            <a:r>
              <a:rPr kumimoji="1" lang="en-US" altLang="ja-JP" sz="1800" dirty="0" smtClean="0"/>
              <a:t>Edit a preferred name of a concept </a:t>
            </a:r>
            <a:r>
              <a:rPr kumimoji="1" lang="en-US" altLang="ja-JP" sz="1800" dirty="0" smtClean="0">
                <a:sym typeface="Wingdings" panose="05000000000000000000" pitchFamily="2" charset="2"/>
              </a:rPr>
              <a:t> MDC_P004_1.en</a:t>
            </a:r>
            <a:endParaRPr kumimoji="1" lang="en-US" altLang="ja-JP" sz="1800" dirty="0" smtClean="0"/>
          </a:p>
          <a:p>
            <a:pPr marL="800100" lvl="1" indent="-342900">
              <a:buFont typeface="+mj-lt"/>
              <a:buAutoNum type="alphaUcParenR"/>
            </a:pPr>
            <a:r>
              <a:rPr lang="en-US" altLang="ja-JP" sz="1800" dirty="0" smtClean="0"/>
              <a:t>Edit a definition of a concept </a:t>
            </a:r>
            <a:r>
              <a:rPr lang="en-US" altLang="ja-JP" sz="1800" dirty="0" smtClean="0">
                <a:sym typeface="Wingdings" panose="05000000000000000000" pitchFamily="2" charset="2"/>
              </a:rPr>
              <a:t> MDC_P005_1.en</a:t>
            </a:r>
          </a:p>
          <a:p>
            <a:r>
              <a:rPr lang="en-US" altLang="ja-JP" sz="1600" dirty="0" smtClean="0"/>
              <a:t>NOTE: IEC 61360-6 (Quality guide) is recommended to be referred when you edit values of those attributes.</a:t>
            </a:r>
            <a:endParaRPr lang="en-US" altLang="ja-JP" sz="2200" dirty="0" smtClean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35" y="5377053"/>
            <a:ext cx="7654883" cy="1444874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35" y="3730969"/>
            <a:ext cx="7601762" cy="1551857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341234" y="3590947"/>
            <a:ext cx="1116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/>
              <a:t>Class sheet</a:t>
            </a:r>
            <a:endParaRPr kumimoji="1" lang="ja-JP" altLang="en-US" sz="1600" b="1" i="1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41234" y="5241639"/>
            <a:ext cx="1419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/>
              <a:t>Property sheet</a:t>
            </a:r>
            <a:endParaRPr kumimoji="1" lang="ja-JP" altLang="en-US" sz="1600" b="1" i="1" dirty="0"/>
          </a:p>
        </p:txBody>
      </p:sp>
      <p:sp>
        <p:nvSpPr>
          <p:cNvPr id="10" name="角丸四角形 9"/>
          <p:cNvSpPr/>
          <p:nvPr/>
        </p:nvSpPr>
        <p:spPr>
          <a:xfrm>
            <a:off x="899336" y="4069523"/>
            <a:ext cx="861261" cy="1213303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965411" y="5737718"/>
            <a:ext cx="795186" cy="1084209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3878407" y="4033660"/>
            <a:ext cx="575890" cy="1249166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3907136" y="5694354"/>
            <a:ext cx="664864" cy="1109010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/>
          <p:cNvSpPr/>
          <p:nvPr/>
        </p:nvSpPr>
        <p:spPr>
          <a:xfrm>
            <a:off x="6842520" y="4075853"/>
            <a:ext cx="581862" cy="1165317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角丸四角形 14"/>
          <p:cNvSpPr/>
          <p:nvPr/>
        </p:nvSpPr>
        <p:spPr>
          <a:xfrm>
            <a:off x="6924407" y="5717906"/>
            <a:ext cx="704691" cy="1085458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224460" y="3743949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A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261418" y="5421619"/>
            <a:ext cx="264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A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117477" y="5416483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B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051120" y="3760224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B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6988219" y="3789799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C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7142098" y="5407460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C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23" name="スライド番号プレースホルダー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09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/>
              <a:t>3. Edit details of each concept </a:t>
            </a:r>
            <a:r>
              <a:rPr lang="en-US" altLang="ja-JP" sz="4000" dirty="0" smtClean="0"/>
              <a:t>(2/4</a:t>
            </a:r>
            <a:r>
              <a:rPr lang="en-US" altLang="ja-JP" sz="4000" dirty="0"/>
              <a:t>)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52596"/>
          </a:xfrm>
        </p:spPr>
        <p:txBody>
          <a:bodyPr>
            <a:normAutofit/>
          </a:bodyPr>
          <a:lstStyle/>
          <a:p>
            <a:r>
              <a:rPr lang="en-US" altLang="ja-JP" sz="2000" dirty="0" smtClean="0"/>
              <a:t>In class sheet</a:t>
            </a:r>
          </a:p>
          <a:p>
            <a:pPr lvl="1"/>
            <a:r>
              <a:rPr kumimoji="1" lang="en-US" altLang="ja-JP" sz="1800" dirty="0" smtClean="0"/>
              <a:t>Edit a class type </a:t>
            </a:r>
            <a:r>
              <a:rPr kumimoji="1" lang="en-US" altLang="ja-JP" sz="1800" dirty="0" smtClean="0">
                <a:sym typeface="Wingdings" panose="05000000000000000000" pitchFamily="2" charset="2"/>
              </a:rPr>
              <a:t> MDC_P011 (if product class, </a:t>
            </a:r>
            <a:r>
              <a:rPr kumimoji="1" lang="en-US" altLang="ja-JP" sz="1800" b="1" dirty="0" smtClean="0">
                <a:sym typeface="Wingdings" panose="05000000000000000000" pitchFamily="2" charset="2"/>
              </a:rPr>
              <a:t>ITEM_CLASS</a:t>
            </a:r>
            <a:r>
              <a:rPr kumimoji="1" lang="en-US" altLang="ja-JP" sz="1800" dirty="0" smtClean="0">
                <a:sym typeface="Wingdings" panose="05000000000000000000" pitchFamily="2" charset="2"/>
              </a:rPr>
              <a:t> should be selected)</a:t>
            </a:r>
          </a:p>
          <a:p>
            <a:pPr lvl="1"/>
            <a:r>
              <a:rPr lang="en-US" altLang="ja-JP" sz="1800" dirty="0" smtClean="0">
                <a:sym typeface="Wingdings" panose="05000000000000000000" pitchFamily="2" charset="2"/>
              </a:rPr>
              <a:t>Edit a superclass  MDC_P010 (Special GUI for selecting a superclass)</a:t>
            </a:r>
          </a:p>
          <a:p>
            <a:pPr lvl="1"/>
            <a:r>
              <a:rPr kumimoji="1" lang="en-US" altLang="ja-JP" sz="1800" dirty="0" smtClean="0">
                <a:sym typeface="Wingdings" panose="05000000000000000000" pitchFamily="2" charset="2"/>
              </a:rPr>
              <a:t>Edit applicable properties  MDC_P014 (Special GUI for picking up properties to be newly applicable to a class)</a:t>
            </a:r>
          </a:p>
          <a:p>
            <a:pPr lvl="2"/>
            <a:r>
              <a:rPr kumimoji="1" lang="en-US" altLang="ja-JP" sz="1600" dirty="0" smtClean="0">
                <a:sym typeface="Wingdings" panose="05000000000000000000" pitchFamily="2" charset="2"/>
              </a:rPr>
              <a:t>Properties should be prepared in the property sheet in advance.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" y="4259513"/>
            <a:ext cx="8997001" cy="2134614"/>
          </a:xfrm>
          <a:prstGeom prst="rect">
            <a:avLst/>
          </a:prstGeom>
        </p:spPr>
      </p:pic>
      <p:sp>
        <p:nvSpPr>
          <p:cNvPr id="7" name="角丸四角形 6"/>
          <p:cNvSpPr/>
          <p:nvPr/>
        </p:nvSpPr>
        <p:spPr>
          <a:xfrm>
            <a:off x="2229676" y="4677293"/>
            <a:ext cx="704594" cy="1600677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4811377" y="4677293"/>
            <a:ext cx="1139048" cy="1600677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60" y="4043378"/>
            <a:ext cx="1116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/>
              <a:t>Class sheet</a:t>
            </a:r>
            <a:endParaRPr kumimoji="1" lang="ja-JP" altLang="en-US" sz="1600" b="1" i="1" dirty="0"/>
          </a:p>
        </p:txBody>
      </p:sp>
      <p:sp>
        <p:nvSpPr>
          <p:cNvPr id="11" name="角丸四角形 10"/>
          <p:cNvSpPr/>
          <p:nvPr/>
        </p:nvSpPr>
        <p:spPr>
          <a:xfrm>
            <a:off x="2934270" y="4677293"/>
            <a:ext cx="704594" cy="1600677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427123" y="4381932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A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131717" y="4381932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B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5226051" y="4381932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C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6" name="スライド番号プレースホルダー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124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/>
              <a:t>3. Edit details of each concept </a:t>
            </a:r>
            <a:r>
              <a:rPr lang="en-US" altLang="ja-JP" sz="4000" dirty="0" smtClean="0"/>
              <a:t>(3/4</a:t>
            </a:r>
            <a:r>
              <a:rPr lang="en-US" altLang="ja-JP" sz="4000" dirty="0"/>
              <a:t>)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52596"/>
          </a:xfrm>
        </p:spPr>
        <p:txBody>
          <a:bodyPr>
            <a:normAutofit/>
          </a:bodyPr>
          <a:lstStyle/>
          <a:p>
            <a:r>
              <a:rPr lang="en-US" altLang="ja-JP" sz="2000" dirty="0" smtClean="0">
                <a:sym typeface="Wingdings" panose="05000000000000000000" pitchFamily="2" charset="2"/>
              </a:rPr>
              <a:t>In property sheet</a:t>
            </a:r>
          </a:p>
          <a:p>
            <a:pPr marL="800100" lvl="1" indent="-342900">
              <a:buFont typeface="+mj-lt"/>
              <a:buAutoNum type="alphaUcParenR"/>
            </a:pPr>
            <a:r>
              <a:rPr lang="en-US" altLang="ja-JP" sz="1800" dirty="0" smtClean="0">
                <a:sym typeface="Wingdings" panose="05000000000000000000" pitchFamily="2" charset="2"/>
              </a:rPr>
              <a:t>Edit a Property data element type  MDC_P020 (if a property doesn’t depend on any other one, and the property isn’t depended on any other property, </a:t>
            </a:r>
            <a:r>
              <a:rPr lang="en-US" altLang="ja-JP" sz="1800" b="1" dirty="0" smtClean="0">
                <a:sym typeface="Wingdings" panose="05000000000000000000" pitchFamily="2" charset="2"/>
              </a:rPr>
              <a:t>NON_DEPENDENT_P_DET</a:t>
            </a:r>
            <a:r>
              <a:rPr lang="en-US" altLang="ja-JP" sz="1800" dirty="0" smtClean="0">
                <a:sym typeface="Wingdings" panose="05000000000000000000" pitchFamily="2" charset="2"/>
              </a:rPr>
              <a:t> should be selected)</a:t>
            </a:r>
            <a:endParaRPr lang="ja-JP" altLang="en-US" sz="1800" dirty="0" smtClean="0"/>
          </a:p>
          <a:p>
            <a:pPr marL="800100" lvl="1" indent="-342900">
              <a:buFont typeface="+mj-lt"/>
              <a:buAutoNum type="alphaUcParenR"/>
            </a:pPr>
            <a:r>
              <a:rPr kumimoji="1" lang="en-US" altLang="ja-JP" sz="1800" dirty="0" smtClean="0"/>
              <a:t>Edit a definition class </a:t>
            </a:r>
            <a:r>
              <a:rPr kumimoji="1" lang="en-US" altLang="ja-JP" sz="1800" dirty="0" smtClean="0">
                <a:sym typeface="Wingdings" panose="05000000000000000000" pitchFamily="2" charset="2"/>
              </a:rPr>
              <a:t> MDC_P021 (Special GUI for selecting a definition class)</a:t>
            </a:r>
          </a:p>
          <a:p>
            <a:pPr marL="800100" lvl="1" indent="-342900">
              <a:buFont typeface="+mj-lt"/>
              <a:buAutoNum type="alphaUcParenR"/>
            </a:pPr>
            <a:r>
              <a:rPr lang="en-US" altLang="ja-JP" sz="1800" dirty="0" smtClean="0">
                <a:sym typeface="Wingdings" panose="05000000000000000000" pitchFamily="2" charset="2"/>
              </a:rPr>
              <a:t>Edit a data type  MDC_P022 (Special GUI for editing data type)</a:t>
            </a:r>
          </a:p>
          <a:p>
            <a:pPr lvl="2"/>
            <a:r>
              <a:rPr lang="en-US" altLang="ja-JP" sz="1600" dirty="0" smtClean="0">
                <a:sym typeface="Wingdings" panose="05000000000000000000" pitchFamily="2" charset="2"/>
              </a:rPr>
              <a:t>If property has choices of values, a list of choices should be defined in </a:t>
            </a:r>
            <a:r>
              <a:rPr lang="en-US" altLang="ja-JP" sz="1600" b="1" i="1" dirty="0" smtClean="0">
                <a:sym typeface="Wingdings" panose="05000000000000000000" pitchFamily="2" charset="2"/>
              </a:rPr>
              <a:t>Enumeration</a:t>
            </a:r>
            <a:r>
              <a:rPr lang="en-US" altLang="ja-JP" sz="1600" dirty="0" smtClean="0">
                <a:sym typeface="Wingdings" panose="05000000000000000000" pitchFamily="2" charset="2"/>
              </a:rPr>
              <a:t> sheet and each choice should be defined in </a:t>
            </a:r>
            <a:r>
              <a:rPr lang="en-US" altLang="ja-JP" sz="1600" b="1" i="1" dirty="0" smtClean="0">
                <a:sym typeface="Wingdings" panose="05000000000000000000" pitchFamily="2" charset="2"/>
              </a:rPr>
              <a:t>Term</a:t>
            </a:r>
            <a:r>
              <a:rPr lang="en-US" altLang="ja-JP" sz="1600" dirty="0" smtClean="0">
                <a:sym typeface="Wingdings" panose="05000000000000000000" pitchFamily="2" charset="2"/>
              </a:rPr>
              <a:t> sheet in advance.</a:t>
            </a:r>
          </a:p>
          <a:p>
            <a:pPr marL="800100" lvl="1" indent="-342900">
              <a:buFont typeface="+mj-lt"/>
              <a:buAutoNum type="alphaUcParenR"/>
            </a:pPr>
            <a:r>
              <a:rPr kumimoji="1" lang="en-US" altLang="ja-JP" sz="1800" dirty="0" smtClean="0">
                <a:sym typeface="Wingdings" panose="05000000000000000000" pitchFamily="2" charset="2"/>
              </a:rPr>
              <a:t>Edit a unit if data type is MEASURE_TYPE  MDC_P023 (unit can be edited in the data type GUI)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99" y="5050048"/>
            <a:ext cx="6439895" cy="1807952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588699" y="4981808"/>
            <a:ext cx="1419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/>
              <a:t>Property sheet</a:t>
            </a:r>
            <a:endParaRPr kumimoji="1" lang="ja-JP" altLang="en-US" sz="1600" b="1" i="1" dirty="0"/>
          </a:p>
        </p:txBody>
      </p:sp>
      <p:sp>
        <p:nvSpPr>
          <p:cNvPr id="6" name="角丸四角形 5"/>
          <p:cNvSpPr/>
          <p:nvPr/>
        </p:nvSpPr>
        <p:spPr>
          <a:xfrm>
            <a:off x="2570870" y="5427921"/>
            <a:ext cx="704593" cy="1416432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/>
          <p:cNvSpPr/>
          <p:nvPr/>
        </p:nvSpPr>
        <p:spPr>
          <a:xfrm>
            <a:off x="3275463" y="5427921"/>
            <a:ext cx="704593" cy="1416432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3963593" y="5414274"/>
            <a:ext cx="622055" cy="1416432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4579473" y="5414274"/>
            <a:ext cx="622055" cy="1416432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741304" y="5151085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A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453317" y="5151085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B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110723" y="5151085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C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748893" y="514882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D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5" name="スライド番号プレースホルダー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86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000" dirty="0"/>
              <a:t>3. Edit details of each concept </a:t>
            </a:r>
            <a:r>
              <a:rPr lang="en-US" altLang="ja-JP" sz="4000" dirty="0" smtClean="0"/>
              <a:t>(4/4</a:t>
            </a:r>
            <a:r>
              <a:rPr lang="en-US" altLang="ja-JP" sz="4000" dirty="0"/>
              <a:t>)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2000" dirty="0"/>
              <a:t>In </a:t>
            </a:r>
            <a:r>
              <a:rPr lang="en-US" altLang="ja-JP" sz="2000" dirty="0" smtClean="0"/>
              <a:t>enumeration </a:t>
            </a:r>
            <a:r>
              <a:rPr lang="en-US" altLang="ja-JP" sz="2000" dirty="0"/>
              <a:t>sheet</a:t>
            </a:r>
          </a:p>
          <a:p>
            <a:pPr marL="800100" lvl="1" indent="-342900">
              <a:buFont typeface="+mj-lt"/>
              <a:buAutoNum type="alphaUcParenR"/>
            </a:pPr>
            <a:r>
              <a:rPr lang="en-US" altLang="ja-JP" sz="1800" dirty="0"/>
              <a:t>Edit </a:t>
            </a:r>
            <a:r>
              <a:rPr lang="en-US" altLang="ja-JP" sz="1800" dirty="0" smtClean="0"/>
              <a:t>a list of identifiers of choices </a:t>
            </a:r>
            <a:r>
              <a:rPr lang="en-US" altLang="ja-JP" sz="1800" dirty="0" smtClean="0">
                <a:sym typeface="Wingdings" panose="05000000000000000000" pitchFamily="2" charset="2"/>
              </a:rPr>
              <a:t> </a:t>
            </a:r>
            <a:r>
              <a:rPr lang="en-US" altLang="ja-JP" sz="1800" dirty="0">
                <a:sym typeface="Wingdings" panose="05000000000000000000" pitchFamily="2" charset="2"/>
              </a:rPr>
              <a:t>MDC_P043 (Special GUI </a:t>
            </a:r>
            <a:r>
              <a:rPr lang="en-US" altLang="ja-JP" sz="1800" dirty="0" smtClean="0">
                <a:sym typeface="Wingdings" panose="05000000000000000000" pitchFamily="2" charset="2"/>
              </a:rPr>
              <a:t>for picking up choices)</a:t>
            </a:r>
            <a:endParaRPr lang="en-US" altLang="ja-JP" sz="1800" dirty="0">
              <a:sym typeface="Wingdings" panose="05000000000000000000" pitchFamily="2" charset="2"/>
            </a:endParaRPr>
          </a:p>
          <a:p>
            <a:pPr marL="800100" lvl="1" indent="-342900">
              <a:buFont typeface="+mj-lt"/>
              <a:buAutoNum type="alphaUcParenR"/>
            </a:pPr>
            <a:r>
              <a:rPr lang="en-US" altLang="ja-JP" sz="1800" dirty="0">
                <a:sym typeface="Wingdings" panose="05000000000000000000" pitchFamily="2" charset="2"/>
              </a:rPr>
              <a:t>Edit a </a:t>
            </a:r>
            <a:r>
              <a:rPr lang="en-US" altLang="ja-JP" sz="1800" dirty="0" smtClean="0">
                <a:sym typeface="Wingdings" panose="05000000000000000000" pitchFamily="2" charset="2"/>
              </a:rPr>
              <a:t>list of choices  MDC_P044</a:t>
            </a:r>
            <a:r>
              <a:rPr lang="ja-JP" altLang="en-US" sz="1800" dirty="0" smtClean="0">
                <a:sym typeface="Wingdings" panose="05000000000000000000" pitchFamily="2" charset="2"/>
              </a:rPr>
              <a:t> </a:t>
            </a:r>
            <a:r>
              <a:rPr lang="en-US" altLang="ja-JP" sz="1800" dirty="0" smtClean="0">
                <a:sym typeface="Wingdings" panose="05000000000000000000" pitchFamily="2" charset="2"/>
              </a:rPr>
              <a:t>(Choices will be automatically set via GUI for MDC_P043)</a:t>
            </a:r>
            <a:endParaRPr lang="en-US" altLang="ja-JP" sz="1800" dirty="0">
              <a:sym typeface="Wingdings" panose="05000000000000000000" pitchFamily="2" charset="2"/>
            </a:endParaRPr>
          </a:p>
          <a:p>
            <a:r>
              <a:rPr lang="en-US" altLang="ja-JP" sz="2000" dirty="0">
                <a:sym typeface="Wingdings" panose="05000000000000000000" pitchFamily="2" charset="2"/>
              </a:rPr>
              <a:t>In </a:t>
            </a:r>
            <a:r>
              <a:rPr lang="en-US" altLang="ja-JP" sz="2000" dirty="0" smtClean="0">
                <a:sym typeface="Wingdings" panose="05000000000000000000" pitchFamily="2" charset="2"/>
              </a:rPr>
              <a:t>term </a:t>
            </a:r>
            <a:r>
              <a:rPr lang="en-US" altLang="ja-JP" sz="2000" dirty="0">
                <a:sym typeface="Wingdings" panose="05000000000000000000" pitchFamily="2" charset="2"/>
              </a:rPr>
              <a:t>sheet</a:t>
            </a:r>
          </a:p>
          <a:p>
            <a:pPr marL="800100" lvl="1" indent="-342900">
              <a:buFont typeface="+mj-lt"/>
              <a:buAutoNum type="alphaUcParenR" startAt="3"/>
            </a:pPr>
            <a:r>
              <a:rPr lang="en-US" altLang="ja-JP" sz="1800" dirty="0">
                <a:sym typeface="Wingdings" panose="05000000000000000000" pitchFamily="2" charset="2"/>
              </a:rPr>
              <a:t>Edit a </a:t>
            </a:r>
            <a:r>
              <a:rPr lang="en-US" altLang="ja-JP" sz="1800" dirty="0" smtClean="0">
                <a:sym typeface="Wingdings" panose="05000000000000000000" pitchFamily="2" charset="2"/>
              </a:rPr>
              <a:t>choice as value MDC_P025_1</a:t>
            </a:r>
            <a:endParaRPr lang="en-US" altLang="ja-JP" sz="1800" dirty="0">
              <a:sym typeface="Wingdings" panose="05000000000000000000" pitchFamily="2" charset="2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41" y="3945941"/>
            <a:ext cx="4791265" cy="1536557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852" y="5415439"/>
            <a:ext cx="5305283" cy="152304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44865" y="3841763"/>
            <a:ext cx="1793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/>
              <a:t>Enumeration sheet</a:t>
            </a:r>
            <a:endParaRPr kumimoji="1" lang="ja-JP" altLang="en-US" sz="1600" b="1" i="1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693852" y="5328133"/>
            <a:ext cx="1115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/>
              <a:t>Term sheet</a:t>
            </a:r>
            <a:endParaRPr kumimoji="1" lang="ja-JP" altLang="en-US" sz="1600" b="1" i="1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645486" y="4011040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A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330107" y="3993490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B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8529039" y="5497410"/>
            <a:ext cx="2904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>
                <a:solidFill>
                  <a:srgbClr val="FF0000"/>
                </a:solidFill>
              </a:rPr>
              <a:t>C</a:t>
            </a:r>
            <a:endParaRPr kumimoji="1" lang="ja-JP" altLang="en-US" sz="1600" b="1" i="1" dirty="0">
              <a:solidFill>
                <a:srgbClr val="FF0000"/>
              </a:solidFill>
            </a:endParaRPr>
          </a:p>
        </p:txBody>
      </p:sp>
      <p:sp>
        <p:nvSpPr>
          <p:cNvPr id="11" name="角丸四角形 10"/>
          <p:cNvSpPr/>
          <p:nvPr/>
        </p:nvSpPr>
        <p:spPr>
          <a:xfrm>
            <a:off x="1872717" y="4282126"/>
            <a:ext cx="1962304" cy="1160609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3871264" y="4282126"/>
            <a:ext cx="1207824" cy="1160609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8325133" y="5777878"/>
            <a:ext cx="674001" cy="1160609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スライド番号プレースホルダー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53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4. View </a:t>
            </a:r>
            <a:r>
              <a:rPr lang="en-US" altLang="ja-JP" dirty="0"/>
              <a:t>the class </a:t>
            </a:r>
            <a:r>
              <a:rPr lang="en-US" altLang="ja-JP" dirty="0" smtClean="0"/>
              <a:t>hierarchy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Right click on the data section on the class sheet to show the context menu, and then click </a:t>
            </a:r>
            <a:r>
              <a:rPr lang="en-US" altLang="ja-JP" b="1" i="1" dirty="0" smtClean="0"/>
              <a:t>Class viewer</a:t>
            </a:r>
            <a:r>
              <a:rPr lang="en-US" altLang="ja-JP" dirty="0" smtClean="0"/>
              <a:t> for displaying </a:t>
            </a:r>
            <a:r>
              <a:rPr lang="en-US" altLang="ja-JP" b="1" i="1" dirty="0" smtClean="0"/>
              <a:t>Class viewer</a:t>
            </a:r>
            <a:r>
              <a:rPr lang="en-US" altLang="ja-JP" dirty="0" smtClean="0"/>
              <a:t> dialog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9" y="4132043"/>
            <a:ext cx="8997001" cy="2134614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755" y="2807399"/>
            <a:ext cx="1495283" cy="3122707"/>
          </a:xfrm>
          <a:prstGeom prst="rect">
            <a:avLst/>
          </a:prstGeom>
        </p:spPr>
      </p:pic>
      <p:sp>
        <p:nvSpPr>
          <p:cNvPr id="7" name="角丸四角形 6"/>
          <p:cNvSpPr/>
          <p:nvPr/>
        </p:nvSpPr>
        <p:spPr>
          <a:xfrm>
            <a:off x="6351754" y="5736119"/>
            <a:ext cx="1495283" cy="207636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3499" y="3908174"/>
            <a:ext cx="11162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1" dirty="0" smtClean="0"/>
              <a:t>Class sheet</a:t>
            </a:r>
            <a:endParaRPr kumimoji="1" lang="ja-JP" alt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555380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コンテンツ プレースホルダー 1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085" y="1825625"/>
            <a:ext cx="6691830" cy="435133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4. View the class </a:t>
            </a:r>
            <a:r>
              <a:rPr lang="en-US" altLang="ja-JP" dirty="0" smtClean="0"/>
              <a:t>hierarchy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1476931" y="2739929"/>
            <a:ext cx="2358089" cy="2664584"/>
          </a:xfrm>
          <a:prstGeom prst="roundRect">
            <a:avLst>
              <a:gd name="adj" fmla="val 4364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/>
          <p:cNvSpPr/>
          <p:nvPr/>
        </p:nvSpPr>
        <p:spPr>
          <a:xfrm>
            <a:off x="4085866" y="2373714"/>
            <a:ext cx="3666062" cy="1283886"/>
          </a:xfrm>
          <a:prstGeom prst="roundRect">
            <a:avLst>
              <a:gd name="adj" fmla="val 394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4085866" y="3836987"/>
            <a:ext cx="3666062" cy="1704003"/>
          </a:xfrm>
          <a:prstGeom prst="roundRect">
            <a:avLst>
              <a:gd name="adj" fmla="val 3945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976485" y="2413160"/>
            <a:ext cx="3017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Class </a:t>
            </a:r>
            <a:r>
              <a:rPr lang="en-US" altLang="ja-JP" sz="1600" b="1" dirty="0" smtClean="0">
                <a:solidFill>
                  <a:srgbClr val="FF0000"/>
                </a:solidFill>
              </a:rPr>
              <a:t>hierarchy of </a:t>
            </a:r>
            <a:r>
              <a:rPr lang="en-US" altLang="ja-JP" sz="1600" b="1" dirty="0">
                <a:solidFill>
                  <a:srgbClr val="FF0000"/>
                </a:solidFill>
              </a:rPr>
              <a:t>your dictionary</a:t>
            </a:r>
            <a:endParaRPr lang="ja-JP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4289401" y="2054112"/>
            <a:ext cx="43653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smtClean="0">
                <a:solidFill>
                  <a:srgbClr val="FF0000"/>
                </a:solidFill>
              </a:rPr>
              <a:t>Details of the class focused on the class hierarchy</a:t>
            </a:r>
            <a:endParaRPr lang="ja-JP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4334735" y="5485965"/>
            <a:ext cx="48092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dirty="0" smtClean="0">
                <a:solidFill>
                  <a:srgbClr val="FF0000"/>
                </a:solidFill>
              </a:rPr>
              <a:t>Properties of the class focused on the class hierarchy</a:t>
            </a:r>
          </a:p>
          <a:p>
            <a:r>
              <a:rPr lang="en-US" altLang="ja-JP" sz="1400" b="1" dirty="0" smtClean="0">
                <a:solidFill>
                  <a:srgbClr val="FF0000"/>
                </a:solidFill>
              </a:rPr>
              <a:t>(“A” indicates the property is newly applicable to the class, </a:t>
            </a:r>
          </a:p>
          <a:p>
            <a:r>
              <a:rPr lang="en-US" altLang="ja-JP" sz="1400" b="1" dirty="0" smtClean="0">
                <a:solidFill>
                  <a:srgbClr val="FF0000"/>
                </a:solidFill>
              </a:rPr>
              <a:t>and “K” indicates the property is inherited form its superclass)</a:t>
            </a:r>
          </a:p>
        </p:txBody>
      </p:sp>
    </p:spTree>
    <p:extLst>
      <p:ext uri="{BB962C8B-B14F-4D97-AF65-F5344CB8AC3E}">
        <p14:creationId xmlns:p14="http://schemas.microsoft.com/office/powerpoint/2010/main" val="3843342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5. </a:t>
            </a:r>
            <a:r>
              <a:rPr lang="en-US" altLang="ja-JP" dirty="0"/>
              <a:t>Validate your data dictionary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sz="2400" dirty="0" smtClean="0"/>
              <a:t>You can chec</a:t>
            </a:r>
            <a:r>
              <a:rPr lang="en-US" altLang="ja-JP" sz="2400" dirty="0" smtClean="0"/>
              <a:t>k the consistency of your data dictionary by using the </a:t>
            </a:r>
            <a:r>
              <a:rPr lang="en-US" altLang="ja-JP" sz="2400" b="1" dirty="0" smtClean="0"/>
              <a:t>Validation</a:t>
            </a:r>
            <a:r>
              <a:rPr lang="en-US" altLang="ja-JP" sz="2400" dirty="0" smtClean="0"/>
              <a:t> function of </a:t>
            </a:r>
            <a:r>
              <a:rPr lang="en-US" altLang="ja-JP" sz="2400" dirty="0" err="1" smtClean="0"/>
              <a:t>ParcelMaker</a:t>
            </a:r>
            <a:r>
              <a:rPr lang="en-US" altLang="ja-JP" sz="2400" baseline="30000" dirty="0" err="1" smtClean="0"/>
              <a:t>TM</a:t>
            </a:r>
            <a:r>
              <a:rPr lang="en-US" altLang="ja-JP" sz="2400" dirty="0" smtClean="0"/>
              <a:t>.</a:t>
            </a:r>
            <a:endParaRPr kumimoji="1" lang="en-US" altLang="ja-JP" sz="2400" baseline="30000" dirty="0" smtClean="0"/>
          </a:p>
          <a:p>
            <a:pPr lvl="1"/>
            <a:r>
              <a:rPr kumimoji="1" lang="en-US" altLang="ja-JP" sz="2000" dirty="0" smtClean="0"/>
              <a:t>Click </a:t>
            </a:r>
            <a:r>
              <a:rPr kumimoji="1" lang="en-US" altLang="ja-JP" sz="2000" b="1" i="1" dirty="0" smtClean="0"/>
              <a:t>Parcel </a:t>
            </a:r>
            <a:r>
              <a:rPr kumimoji="1" lang="en-US" altLang="ja-JP" sz="2000" b="1" i="1" dirty="0" err="1" smtClean="0"/>
              <a:t>Maker</a:t>
            </a:r>
            <a:r>
              <a:rPr kumimoji="1" lang="en-US" altLang="ja-JP" sz="2000" dirty="0" err="1" smtClean="0">
                <a:sym typeface="Wingdings" panose="05000000000000000000" pitchFamily="2" charset="2"/>
              </a:rPr>
              <a:t></a:t>
            </a:r>
            <a:r>
              <a:rPr kumimoji="1" lang="en-US" altLang="ja-JP" sz="2000" b="1" i="1" dirty="0" err="1" smtClean="0">
                <a:sym typeface="Wingdings" panose="05000000000000000000" pitchFamily="2" charset="2"/>
              </a:rPr>
              <a:t>Tools</a:t>
            </a:r>
            <a:r>
              <a:rPr kumimoji="1" lang="en-US" altLang="ja-JP" sz="2000" dirty="0" err="1" smtClean="0">
                <a:sym typeface="Wingdings" panose="05000000000000000000" pitchFamily="2" charset="2"/>
              </a:rPr>
              <a:t></a:t>
            </a:r>
            <a:r>
              <a:rPr kumimoji="1" lang="en-US" altLang="ja-JP" sz="2000" b="1" i="1" dirty="0" err="1" smtClean="0">
                <a:sym typeface="Wingdings" panose="05000000000000000000" pitchFamily="2" charset="2"/>
              </a:rPr>
              <a:t>Validation</a:t>
            </a:r>
            <a:r>
              <a:rPr kumimoji="1" lang="en-US" altLang="ja-JP" sz="2000" dirty="0" smtClean="0">
                <a:sym typeface="Wingdings" panose="05000000000000000000" pitchFamily="2" charset="2"/>
              </a:rPr>
              <a:t>, and then a v</a:t>
            </a:r>
            <a:r>
              <a:rPr lang="en-US" altLang="ja-JP" sz="2000" dirty="0" smtClean="0"/>
              <a:t>alidation process will be automatically started.</a:t>
            </a:r>
          </a:p>
          <a:p>
            <a:pPr lvl="1"/>
            <a:r>
              <a:rPr kumimoji="1" lang="en-US" altLang="ja-JP" sz="2000" dirty="0" smtClean="0"/>
              <a:t>If one or more errors are detected, those errors will be listed in the Detected errors dialog.</a:t>
            </a:r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19</a:t>
            </a:fld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436" y="3811159"/>
            <a:ext cx="6237418" cy="3005897"/>
          </a:xfrm>
          <a:prstGeom prst="rect">
            <a:avLst/>
          </a:prstGeom>
        </p:spPr>
      </p:pic>
      <p:sp>
        <p:nvSpPr>
          <p:cNvPr id="7" name="角丸四角形 6"/>
          <p:cNvSpPr/>
          <p:nvPr/>
        </p:nvSpPr>
        <p:spPr>
          <a:xfrm>
            <a:off x="1872716" y="4309424"/>
            <a:ext cx="5538017" cy="194339"/>
          </a:xfrm>
          <a:prstGeom prst="roundRect">
            <a:avLst>
              <a:gd name="adj" fmla="val 9733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065340" y="4469422"/>
            <a:ext cx="1563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 smtClean="0">
                <a:solidFill>
                  <a:srgbClr val="FF0000"/>
                </a:solidFill>
              </a:rPr>
              <a:t>1 error detected</a:t>
            </a:r>
            <a:endParaRPr kumimoji="1" lang="ja-JP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688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(Informative) Small Tips (1/2)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2000" dirty="0" smtClean="0"/>
              <a:t>Each parcel sheet has many header items, but some of those are not required for your purpose. </a:t>
            </a:r>
            <a:r>
              <a:rPr lang="en-US" altLang="ja-JP" sz="2000" dirty="0" err="1" smtClean="0"/>
              <a:t>ParcelMaker</a:t>
            </a:r>
            <a:r>
              <a:rPr lang="en-US" altLang="ja-JP" sz="2000" baseline="30000" dirty="0" err="1" smtClean="0"/>
              <a:t>TM</a:t>
            </a:r>
            <a:r>
              <a:rPr lang="en-US" altLang="ja-JP" sz="2000" dirty="0" smtClean="0"/>
              <a:t> has a special function to hide/unhide each header item of each parcel sheet in a workbook. The function is available from </a:t>
            </a:r>
            <a:r>
              <a:rPr lang="en-US" altLang="ja-JP" sz="2000" b="1" i="1" dirty="0" smtClean="0"/>
              <a:t>Parcel </a:t>
            </a:r>
            <a:r>
              <a:rPr lang="en-US" altLang="ja-JP" sz="2000" b="1" i="1" dirty="0" err="1" smtClean="0"/>
              <a:t>Maker</a:t>
            </a:r>
            <a:r>
              <a:rPr lang="en-US" altLang="ja-JP" sz="2000" dirty="0" err="1" smtClean="0">
                <a:sym typeface="Wingdings" panose="05000000000000000000" pitchFamily="2" charset="2"/>
              </a:rPr>
              <a:t></a:t>
            </a:r>
            <a:r>
              <a:rPr lang="en-US" altLang="ja-JP" sz="2000" b="1" i="1" dirty="0" err="1" smtClean="0">
                <a:sym typeface="Wingdings" panose="05000000000000000000" pitchFamily="2" charset="2"/>
              </a:rPr>
              <a:t>Settings</a:t>
            </a:r>
            <a:r>
              <a:rPr lang="en-US" altLang="ja-JP" sz="2000" dirty="0" err="1" smtClean="0">
                <a:sym typeface="Wingdings" panose="05000000000000000000" pitchFamily="2" charset="2"/>
              </a:rPr>
              <a:t></a:t>
            </a:r>
            <a:r>
              <a:rPr lang="en-US" altLang="ja-JP" sz="2000" b="1" i="1" dirty="0" err="1" smtClean="0">
                <a:sym typeface="Wingdings" panose="05000000000000000000" pitchFamily="2" charset="2"/>
              </a:rPr>
              <a:t>Show</a:t>
            </a:r>
            <a:r>
              <a:rPr lang="en-US" altLang="ja-JP" sz="2000" b="1" i="1" dirty="0" smtClean="0">
                <a:sym typeface="Wingdings" panose="05000000000000000000" pitchFamily="2" charset="2"/>
              </a:rPr>
              <a:t>/Hide header lines</a:t>
            </a:r>
            <a:r>
              <a:rPr lang="en-US" altLang="ja-JP" sz="2000" dirty="0" smtClean="0"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1" y="4694832"/>
            <a:ext cx="3968779" cy="213837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958" y="4630353"/>
            <a:ext cx="4088450" cy="2202855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668" y="3193290"/>
            <a:ext cx="2764923" cy="1473060"/>
          </a:xfrm>
          <a:prstGeom prst="rect">
            <a:avLst/>
          </a:prstGeom>
        </p:spPr>
      </p:pic>
      <p:sp>
        <p:nvSpPr>
          <p:cNvPr id="10" name="右大かっこ 9"/>
          <p:cNvSpPr/>
          <p:nvPr/>
        </p:nvSpPr>
        <p:spPr>
          <a:xfrm>
            <a:off x="3994017" y="4995082"/>
            <a:ext cx="91438" cy="1119116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左大かっこ 10"/>
          <p:cNvSpPr/>
          <p:nvPr/>
        </p:nvSpPr>
        <p:spPr>
          <a:xfrm>
            <a:off x="4930853" y="4954138"/>
            <a:ext cx="45719" cy="272955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左カーブ矢印 11"/>
          <p:cNvSpPr/>
          <p:nvPr/>
        </p:nvSpPr>
        <p:spPr>
          <a:xfrm rot="16200000">
            <a:off x="4206240" y="3951820"/>
            <a:ext cx="731520" cy="121615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2985044" y="2970190"/>
            <a:ext cx="28415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600" b="1" i="1" dirty="0">
                <a:sym typeface="Wingdings" panose="05000000000000000000" pitchFamily="2" charset="2"/>
              </a:rPr>
              <a:t>Show/Hide header </a:t>
            </a:r>
            <a:r>
              <a:rPr lang="en-US" altLang="ja-JP" sz="1600" b="1" i="1" dirty="0" smtClean="0">
                <a:sym typeface="Wingdings" panose="05000000000000000000" pitchFamily="2" charset="2"/>
              </a:rPr>
              <a:t>lines dialog </a:t>
            </a:r>
            <a:endParaRPr lang="ja-JP" altLang="en-US" sz="1600" dirty="0"/>
          </a:p>
        </p:txBody>
      </p:sp>
      <p:sp>
        <p:nvSpPr>
          <p:cNvPr id="14" name="正方形/長方形 13"/>
          <p:cNvSpPr/>
          <p:nvPr/>
        </p:nvSpPr>
        <p:spPr>
          <a:xfrm>
            <a:off x="5969557" y="3363138"/>
            <a:ext cx="28328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600" dirty="0" smtClean="0">
                <a:sym typeface="Wingdings" panose="05000000000000000000" pitchFamily="2" charset="2"/>
              </a:rPr>
              <a:t>Show only class ID, class name, property id, property name, data type and requirement</a:t>
            </a:r>
            <a:endParaRPr lang="ja-JP" altLang="en-US" sz="1600" dirty="0"/>
          </a:p>
        </p:txBody>
      </p:sp>
      <p:sp>
        <p:nvSpPr>
          <p:cNvPr id="16" name="スライド番号プレースホルダー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30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(Informative) Small Tips (2/2)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>
                <a:sym typeface="Wingdings" panose="05000000000000000000" pitchFamily="2" charset="2"/>
              </a:rPr>
              <a:t>Each parcel sheet has many cel</a:t>
            </a:r>
            <a:r>
              <a:rPr lang="en-US" altLang="ja-JP" dirty="0" smtClean="0">
                <a:sym typeface="Wingdings" panose="05000000000000000000" pitchFamily="2" charset="2"/>
              </a:rPr>
              <a:t>l </a:t>
            </a:r>
            <a:r>
              <a:rPr kumimoji="1" lang="en-US" altLang="ja-JP" dirty="0" smtClean="0">
                <a:sym typeface="Wingdings" panose="05000000000000000000" pitchFamily="2" charset="2"/>
              </a:rPr>
              <a:t>columns. If there are many data lines in a parcel sheet, it may be difficult to know on which cell column you focus. </a:t>
            </a:r>
            <a:r>
              <a:rPr lang="en-US" altLang="ja-JP" dirty="0" smtClean="0">
                <a:sym typeface="Wingdings" panose="05000000000000000000" pitchFamily="2" charset="2"/>
              </a:rPr>
              <a:t>In many cases, freeze rows/columns function provided by Microsoft® Excel® is useful. The function is available from </a:t>
            </a:r>
            <a:r>
              <a:rPr lang="en-US" altLang="ja-JP" b="1" i="1" dirty="0" err="1" smtClean="0">
                <a:sym typeface="Wingdings" panose="05000000000000000000" pitchFamily="2" charset="2"/>
              </a:rPr>
              <a:t>View</a:t>
            </a:r>
            <a:r>
              <a:rPr lang="en-US" altLang="ja-JP" dirty="0" err="1" smtClean="0">
                <a:sym typeface="Wingdings" panose="05000000000000000000" pitchFamily="2" charset="2"/>
              </a:rPr>
              <a:t></a:t>
            </a:r>
            <a:r>
              <a:rPr lang="en-US" altLang="ja-JP" b="1" i="1" dirty="0" err="1" smtClean="0">
                <a:sym typeface="Wingdings" panose="05000000000000000000" pitchFamily="2" charset="2"/>
              </a:rPr>
              <a:t>Freeze</a:t>
            </a:r>
            <a:r>
              <a:rPr lang="en-US" altLang="ja-JP" b="1" i="1" dirty="0" smtClean="0">
                <a:sym typeface="Wingdings" panose="05000000000000000000" pitchFamily="2" charset="2"/>
              </a:rPr>
              <a:t> Panes</a:t>
            </a:r>
            <a:r>
              <a:rPr lang="en-US" altLang="ja-JP" dirty="0" smtClean="0">
                <a:sym typeface="Wingdings" panose="05000000000000000000" pitchFamily="2" charset="2"/>
              </a:rPr>
              <a:t>.</a:t>
            </a:r>
          </a:p>
          <a:p>
            <a:r>
              <a:rPr kumimoji="1" lang="en-US" altLang="ja-JP" dirty="0" smtClean="0">
                <a:sym typeface="Wingdings" panose="05000000000000000000" pitchFamily="2" charset="2"/>
              </a:rPr>
              <a:t>Other functions provided by Excel® will be helpful for your work. </a:t>
            </a:r>
            <a:r>
              <a:rPr kumimoji="1" lang="en-US" altLang="ja-JP" dirty="0" err="1" smtClean="0">
                <a:sym typeface="Wingdings" panose="05000000000000000000" pitchFamily="2" charset="2"/>
              </a:rPr>
              <a:t>ParcelMaker</a:t>
            </a:r>
            <a:r>
              <a:rPr kumimoji="1" lang="en-US" altLang="ja-JP" baseline="30000" dirty="0" err="1" smtClean="0">
                <a:sym typeface="Wingdings" panose="05000000000000000000" pitchFamily="2" charset="2"/>
              </a:rPr>
              <a:t>TM</a:t>
            </a:r>
            <a:r>
              <a:rPr kumimoji="1" lang="en-US" altLang="ja-JP" dirty="0" smtClean="0">
                <a:sym typeface="Wingdings" panose="05000000000000000000" pitchFamily="2" charset="2"/>
              </a:rPr>
              <a:t> </a:t>
            </a:r>
            <a:r>
              <a:rPr lang="en-US" altLang="ja-JP" dirty="0" smtClean="0">
                <a:sym typeface="Wingdings" panose="05000000000000000000" pitchFamily="2" charset="2"/>
              </a:rPr>
              <a:t>does </a:t>
            </a:r>
            <a:r>
              <a:rPr lang="en-US" altLang="ja-JP" b="1" dirty="0" smtClean="0">
                <a:sym typeface="Wingdings" panose="05000000000000000000" pitchFamily="2" charset="2"/>
              </a:rPr>
              <a:t>NOT</a:t>
            </a:r>
            <a:r>
              <a:rPr kumimoji="1" lang="en-US" altLang="ja-JP" dirty="0" smtClean="0">
                <a:sym typeface="Wingdings" panose="05000000000000000000" pitchFamily="2" charset="2"/>
              </a:rPr>
              <a:t> disturb </a:t>
            </a:r>
            <a:r>
              <a:rPr lang="en-US" altLang="ja-JP" dirty="0" smtClean="0">
                <a:sym typeface="Wingdings" panose="05000000000000000000" pitchFamily="2" charset="2"/>
              </a:rPr>
              <a:t>them as well as your own macros</a:t>
            </a:r>
            <a:r>
              <a:rPr kumimoji="1" lang="en-US" altLang="ja-JP" dirty="0" smtClean="0">
                <a:sym typeface="Wingdings" panose="05000000000000000000" pitchFamily="2" charset="2"/>
              </a:rPr>
              <a:t>.</a:t>
            </a:r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14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Bibliography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Data model</a:t>
            </a:r>
          </a:p>
          <a:p>
            <a:pPr lvl="1"/>
            <a:r>
              <a:rPr kumimoji="1" lang="en-US" altLang="ja-JP" dirty="0" smtClean="0"/>
              <a:t>IEC 61360-2</a:t>
            </a:r>
          </a:p>
          <a:p>
            <a:pPr lvl="1"/>
            <a:r>
              <a:rPr lang="en-US" altLang="ja-JP" dirty="0" smtClean="0"/>
              <a:t>IEC 62656-1</a:t>
            </a:r>
          </a:p>
          <a:p>
            <a:r>
              <a:rPr kumimoji="1" lang="en-US" altLang="ja-JP" dirty="0" smtClean="0"/>
              <a:t>Guide for developing your data dictionary</a:t>
            </a:r>
          </a:p>
          <a:p>
            <a:pPr lvl="1"/>
            <a:r>
              <a:rPr kumimoji="1" lang="en-US" altLang="ja-JP" dirty="0" smtClean="0"/>
              <a:t>IEC 61360-1</a:t>
            </a:r>
          </a:p>
          <a:p>
            <a:pPr lvl="1"/>
            <a:r>
              <a:rPr lang="en-US" altLang="ja-JP" dirty="0" smtClean="0"/>
              <a:t>IEC 62656-2</a:t>
            </a:r>
            <a:endParaRPr kumimoji="1" lang="en-US" altLang="ja-JP" dirty="0" smtClean="0"/>
          </a:p>
          <a:p>
            <a:r>
              <a:rPr kumimoji="1" lang="en-US" altLang="ja-JP" dirty="0" smtClean="0"/>
              <a:t>Quality guide </a:t>
            </a:r>
            <a:r>
              <a:rPr kumimoji="1" lang="en-US" altLang="ja-JP" smtClean="0"/>
              <a:t>for semantics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/>
              <a:t>IEC 61360-6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FB27-D538-4D58-BD7D-E950FE65774D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42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1521</Words>
  <Application>Microsoft Office PowerPoint</Application>
  <PresentationFormat>画面に合わせる (4:3)</PresentationFormat>
  <Paragraphs>201</Paragraphs>
  <Slides>22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8" baseType="lpstr">
      <vt:lpstr>ＭＳ Ｐゴシック</vt:lpstr>
      <vt:lpstr>Arial</vt:lpstr>
      <vt:lpstr>Calibri</vt:lpstr>
      <vt:lpstr>Calibri Light</vt:lpstr>
      <vt:lpstr>Wingdings</vt:lpstr>
      <vt:lpstr>Office テーマ</vt:lpstr>
      <vt:lpstr>Introduction of ParcelMakerTM</vt:lpstr>
      <vt:lpstr>What is ParcelMakerTM?</vt:lpstr>
      <vt:lpstr>Snapshot</vt:lpstr>
      <vt:lpstr>How to use</vt:lpstr>
      <vt:lpstr>How to use (example)</vt:lpstr>
      <vt:lpstr>System requirements</vt:lpstr>
      <vt:lpstr>How to start</vt:lpstr>
      <vt:lpstr>Contact</vt:lpstr>
      <vt:lpstr>PowerPoint プレゼンテーション</vt:lpstr>
      <vt:lpstr>Tutorial for beginners</vt:lpstr>
      <vt:lpstr>1. Design your data dictionary</vt:lpstr>
      <vt:lpstr>2. Prepare parcel sheets</vt:lpstr>
      <vt:lpstr>3. Edit details of each concept (1/4)</vt:lpstr>
      <vt:lpstr>3. Edit details of each concept (2/4)</vt:lpstr>
      <vt:lpstr>3. Edit details of each concept (3/4)</vt:lpstr>
      <vt:lpstr>3. Edit details of each concept (4/4)</vt:lpstr>
      <vt:lpstr>4. View the class hierarchy</vt:lpstr>
      <vt:lpstr>4. View the class hierarchy</vt:lpstr>
      <vt:lpstr>5. Validate your data dictionary</vt:lpstr>
      <vt:lpstr>(Informative) Small Tips (1/2)</vt:lpstr>
      <vt:lpstr>(Informative) Small Tips (2/2)</vt:lpstr>
      <vt:lpstr>Bibliography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ParcelMakerTM</dc:title>
  <dc:creator>SEL</dc:creator>
  <cp:lastModifiedBy>hosokawa akira(細川 晃 ○ＲＤＣ□ＳＥＬ)</cp:lastModifiedBy>
  <cp:revision>116</cp:revision>
  <dcterms:created xsi:type="dcterms:W3CDTF">2019-02-25T09:25:04Z</dcterms:created>
  <dcterms:modified xsi:type="dcterms:W3CDTF">2019-03-07T08:26:23Z</dcterms:modified>
</cp:coreProperties>
</file>